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c5dd690d9a4db7" /><Relationship Type="http://schemas.openxmlformats.org/officeDocument/2006/relationships/extended-properties" Target="/docProps/app.xml" Id="R6da06c5d1a074903" /><Relationship Type="http://schemas.openxmlformats.org/officeDocument/2006/relationships/officeDocument" Target="/ppt/presentation.xml" Id="R016d85b4718046f6" /></Relationships>
</file>

<file path=ppt/presentation.xml><?xml version="1.0" encoding="utf-8"?>
<p:presentation xmlns:p="http://schemas.openxmlformats.org/presentationml/2006/main">
  <p:sldMasterIdLst>
    <p:sldMasterId xmlns:r="http://schemas.openxmlformats.org/officeDocument/2006/relationships" id="2147483648" r:id="R48daa6c9c0414241"/>
  </p:sldMasterIdLst>
  <p:notesMasterIdLst>
    <p:notesMasterId xmlns:r="http://schemas.openxmlformats.org/officeDocument/2006/relationships" r:id="R437fe8a02b134bc2"/>
  </p:notesMasterIdLst>
  <p:sldIdLst>
    <p:sldId xmlns:r="http://schemas.openxmlformats.org/officeDocument/2006/relationships" id="256" r:id="R86caf2ac19144181"/>
    <p:sldId xmlns:r="http://schemas.openxmlformats.org/officeDocument/2006/relationships" id="257" r:id="Rbe634e834ae14b22"/>
    <p:sldId xmlns:r="http://schemas.openxmlformats.org/officeDocument/2006/relationships" id="258" r:id="R2d7c92f133a64c41"/>
    <p:sldId xmlns:r="http://schemas.openxmlformats.org/officeDocument/2006/relationships" id="259" r:id="Rbc0cb0b01a5f4b64"/>
    <p:sldId xmlns:r="http://schemas.openxmlformats.org/officeDocument/2006/relationships" id="260" r:id="R0cf315b261fe482e"/>
    <p:sldId xmlns:r="http://schemas.openxmlformats.org/officeDocument/2006/relationships" id="261" r:id="Rfde31f4f93564fd8"/>
    <p:sldId xmlns:r="http://schemas.openxmlformats.org/officeDocument/2006/relationships" id="262" r:id="R2f597f657d0941ae"/>
    <p:sldId xmlns:r="http://schemas.openxmlformats.org/officeDocument/2006/relationships" id="263" r:id="Ra0a15f1e9daa4aa4"/>
    <p:sldId xmlns:r="http://schemas.openxmlformats.org/officeDocument/2006/relationships" id="264" r:id="R7cf5f17c625c4995"/>
    <p:sldId xmlns:r="http://schemas.openxmlformats.org/officeDocument/2006/relationships" id="265" r:id="Re91559f74fa24418"/>
    <p:sldId xmlns:r="http://schemas.openxmlformats.org/officeDocument/2006/relationships" id="266" r:id="R8cb725cf9f7f4bbc"/>
    <p:sldId xmlns:r="http://schemas.openxmlformats.org/officeDocument/2006/relationships" id="267" r:id="Rfca984edb10f4659"/>
    <p:sldId xmlns:r="http://schemas.openxmlformats.org/officeDocument/2006/relationships" id="268" r:id="R120d4a4c8ece4083"/>
    <p:sldId xmlns:r="http://schemas.openxmlformats.org/officeDocument/2006/relationships" id="269" r:id="Rf352a362c007431a"/>
    <p:sldId xmlns:r="http://schemas.openxmlformats.org/officeDocument/2006/relationships" id="270" r:id="R0dceb64b6aaa4a99"/>
    <p:sldId xmlns:r="http://schemas.openxmlformats.org/officeDocument/2006/relationships" id="271" r:id="Re53d406ede594823"/>
    <p:sldId xmlns:r="http://schemas.openxmlformats.org/officeDocument/2006/relationships" id="272" r:id="R00395f51b11f48f4"/>
    <p:sldId xmlns:r="http://schemas.openxmlformats.org/officeDocument/2006/relationships" id="273" r:id="Ra16ea89a5d7b456c"/>
    <p:sldId xmlns:r="http://schemas.openxmlformats.org/officeDocument/2006/relationships" id="274" r:id="R1278e2c14fd046af"/>
    <p:sldId xmlns:r="http://schemas.openxmlformats.org/officeDocument/2006/relationships" id="275" r:id="R84c3abc23cff460b"/>
    <p:sldId xmlns:r="http://schemas.openxmlformats.org/officeDocument/2006/relationships" id="276" r:id="R302a64135f5e46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d3885067364f2a" /><Relationship Type="http://schemas.openxmlformats.org/officeDocument/2006/relationships/slideMaster" Target="/ppt/slideMasters/slideMaster1.xml" Id="R48daa6c9c0414241" /><Relationship Type="http://schemas.openxmlformats.org/officeDocument/2006/relationships/notesMaster" Target="/ppt/notesMasters/notesMaster1.xml" Id="R437fe8a02b134bc2" /><Relationship Type="http://schemas.openxmlformats.org/officeDocument/2006/relationships/presProps" Target="/ppt/presProps.xml" Id="R2cfd1d33255541ca" /><Relationship Type="http://schemas.openxmlformats.org/officeDocument/2006/relationships/tableStyles" Target="/ppt/tableStyles.xml" Id="Rfda460041e0247f3" /><Relationship Type="http://schemas.openxmlformats.org/officeDocument/2006/relationships/slide" Target="/ppt/slides/slide1.xml" Id="R86caf2ac19144181" /><Relationship Type="http://schemas.openxmlformats.org/officeDocument/2006/relationships/slide" Target="/ppt/slides/slide2.xml" Id="Rbe634e834ae14b22" /><Relationship Type="http://schemas.openxmlformats.org/officeDocument/2006/relationships/slide" Target="/ppt/slides/slide3.xml" Id="R2d7c92f133a64c41" /><Relationship Type="http://schemas.openxmlformats.org/officeDocument/2006/relationships/slide" Target="/ppt/slides/slide4.xml" Id="Rbc0cb0b01a5f4b64" /><Relationship Type="http://schemas.openxmlformats.org/officeDocument/2006/relationships/slide" Target="/ppt/slides/slide5.xml" Id="R0cf315b261fe482e" /><Relationship Type="http://schemas.openxmlformats.org/officeDocument/2006/relationships/slide" Target="/ppt/slides/slide6.xml" Id="Rfde31f4f93564fd8" /><Relationship Type="http://schemas.openxmlformats.org/officeDocument/2006/relationships/slide" Target="/ppt/slides/slide7.xml" Id="R2f597f657d0941ae" /><Relationship Type="http://schemas.openxmlformats.org/officeDocument/2006/relationships/slide" Target="/ppt/slides/slide8.xml" Id="Ra0a15f1e9daa4aa4" /><Relationship Type="http://schemas.openxmlformats.org/officeDocument/2006/relationships/slide" Target="/ppt/slides/slide9.xml" Id="R7cf5f17c625c4995" /><Relationship Type="http://schemas.openxmlformats.org/officeDocument/2006/relationships/slide" Target="/ppt/slides/slide10.xml" Id="Re91559f74fa24418" /><Relationship Type="http://schemas.openxmlformats.org/officeDocument/2006/relationships/slide" Target="/ppt/slides/slide11.xml" Id="R8cb725cf9f7f4bbc" /><Relationship Type="http://schemas.openxmlformats.org/officeDocument/2006/relationships/slide" Target="/ppt/slides/slide12.xml" Id="Rfca984edb10f4659" /><Relationship Type="http://schemas.openxmlformats.org/officeDocument/2006/relationships/slide" Target="/ppt/slides/slide13.xml" Id="R120d4a4c8ece4083" /><Relationship Type="http://schemas.openxmlformats.org/officeDocument/2006/relationships/slide" Target="/ppt/slides/slide14.xml" Id="Rf352a362c007431a" /><Relationship Type="http://schemas.openxmlformats.org/officeDocument/2006/relationships/slide" Target="/ppt/slides/slide15.xml" Id="R0dceb64b6aaa4a99" /><Relationship Type="http://schemas.openxmlformats.org/officeDocument/2006/relationships/slide" Target="/ppt/slides/slide16.xml" Id="Re53d406ede594823" /><Relationship Type="http://schemas.openxmlformats.org/officeDocument/2006/relationships/slide" Target="/ppt/slides/slide17.xml" Id="R00395f51b11f48f4" /><Relationship Type="http://schemas.openxmlformats.org/officeDocument/2006/relationships/slide" Target="/ppt/slides/slide18.xml" Id="Ra16ea89a5d7b456c" /><Relationship Type="http://schemas.openxmlformats.org/officeDocument/2006/relationships/slide" Target="/ppt/slides/slide19.xml" Id="R1278e2c14fd046af" /><Relationship Type="http://schemas.openxmlformats.org/officeDocument/2006/relationships/slide" Target="/ppt/slides/slide20.xml" Id="R84c3abc23cff460b" /><Relationship Type="http://schemas.openxmlformats.org/officeDocument/2006/relationships/slide" Target="/ppt/slides/slide21.xml" Id="R302a64135f5e46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ea08a15ce841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535cedde084583" /><Relationship Type="http://schemas.openxmlformats.org/officeDocument/2006/relationships/notesMaster" Target="/ppt/notesMasters/notesMaster1.xml" Id="R5ec3378bfd714a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d286f819c74896" /><Relationship Type="http://schemas.openxmlformats.org/officeDocument/2006/relationships/notesMaster" Target="/ppt/notesMasters/notesMaster1.xml" Id="R4cfa8141b20246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68fa5cba174139" /><Relationship Type="http://schemas.openxmlformats.org/officeDocument/2006/relationships/notesMaster" Target="/ppt/notesMasters/notesMaster1.xml" Id="Ra47cc376c56547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faaf7a6d0c4ca7" /><Relationship Type="http://schemas.openxmlformats.org/officeDocument/2006/relationships/notesMaster" Target="/ppt/notesMasters/notesMaster1.xml" Id="Re8905588cd8344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0192926a264d92" /><Relationship Type="http://schemas.openxmlformats.org/officeDocument/2006/relationships/notesMaster" Target="/ppt/notesMasters/notesMaster1.xml" Id="R9ecb4291c96946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08469af98a4598" /><Relationship Type="http://schemas.openxmlformats.org/officeDocument/2006/relationships/notesMaster" Target="/ppt/notesMasters/notesMaster1.xml" Id="Ra2b50a33fe0c42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cee848670d4a2b" /><Relationship Type="http://schemas.openxmlformats.org/officeDocument/2006/relationships/notesMaster" Target="/ppt/notesMasters/notesMaster1.xml" Id="R5fcab27b14354b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de0c2490f04c6b" /><Relationship Type="http://schemas.openxmlformats.org/officeDocument/2006/relationships/notesMaster" Target="/ppt/notesMasters/notesMaster1.xml" Id="R9c2ecabc019b45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cf5976dfb14d1d" /><Relationship Type="http://schemas.openxmlformats.org/officeDocument/2006/relationships/notesMaster" Target="/ppt/notesMasters/notesMaster1.xml" Id="R60b37284e27d48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b044b3ef8841e9" /><Relationship Type="http://schemas.openxmlformats.org/officeDocument/2006/relationships/notesMaster" Target="/ppt/notesMasters/notesMaster1.xml" Id="Rba75ac1ec8c84e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4474a31991491b" /><Relationship Type="http://schemas.openxmlformats.org/officeDocument/2006/relationships/notesMaster" Target="/ppt/notesMasters/notesMaster1.xml" Id="R11c239f0d9da4e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199809ed1134859" /><Relationship Type="http://schemas.openxmlformats.org/officeDocument/2006/relationships/notesMaster" Target="/ppt/notesMasters/notesMaster1.xml" Id="Rea3aceed711a4c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cf2f9abf8e46af" /><Relationship Type="http://schemas.openxmlformats.org/officeDocument/2006/relationships/notesMaster" Target="/ppt/notesMasters/notesMaster1.xml" Id="R2fd6d9a0c12b4ea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094641591cf49ab" /><Relationship Type="http://schemas.openxmlformats.org/officeDocument/2006/relationships/notesMaster" Target="/ppt/notesMasters/notesMaster1.xml" Id="R9605e536857f46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20c5af726e24165" /><Relationship Type="http://schemas.openxmlformats.org/officeDocument/2006/relationships/notesMaster" Target="/ppt/notesMasters/notesMaster1.xml" Id="R029c1e8f086142c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6ada34f10ba4b3b" /><Relationship Type="http://schemas.openxmlformats.org/officeDocument/2006/relationships/notesMaster" Target="/ppt/notesMasters/notesMaster1.xml" Id="R59e31af954444ed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e4efbbb6ae44e86" /><Relationship Type="http://schemas.openxmlformats.org/officeDocument/2006/relationships/notesMaster" Target="/ppt/notesMasters/notesMaster1.xml" Id="R8b99ed77d7814f9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7b4cf7582cb4beb" /><Relationship Type="http://schemas.openxmlformats.org/officeDocument/2006/relationships/notesMaster" Target="/ppt/notesMasters/notesMaster1.xml" Id="Rde99ce4261ef46f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be85042299b443d" /><Relationship Type="http://schemas.openxmlformats.org/officeDocument/2006/relationships/notesMaster" Target="/ppt/notesMasters/notesMaster1.xml" Id="Re69b278cf9af448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9406e02ffca42fe" /><Relationship Type="http://schemas.openxmlformats.org/officeDocument/2006/relationships/notesMaster" Target="/ppt/notesMasters/notesMaster1.xml" Id="R0990da2849134e3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93334dbf8ba4153" /><Relationship Type="http://schemas.openxmlformats.org/officeDocument/2006/relationships/notesMaster" Target="/ppt/notesMasters/notesMaster1.xml" Id="R4ffbd9697f574b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Visuals are AI-generated presentation mockups using the user-selected Vossie wordmark. This is a brand and product concept, not a working application. Sample prices, routes, people, earnings and timings are illustrative. No affiliation with Plato or Uber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EduHackers_Full_Marketplace_Research_Dossier(2).pdf, executive summary and sections 14–18, 33. User-supplied research hypotheses, not validated market results. Brand promise and tagline are creative positioning.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EduHackers_Developer_UX_Workflow_Wireframes_Research_Dossier(2).pdf, pages 11–14. Proposed seller dispatch, courier delivery and operations flows. Latest user instruction: Uber-inspired functionality and canvases, Plato-inspired visuals. These are design references, not claims about current Uber or Plato product specifications.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Visuals are AI-generated presentation mockups using the user-selected Vossie wordmark. This is a brand and product concept, not a working application. Sample prices, routes, people, earnings and timings are illustrative. No affiliation with Plato or Uber is implied. User selected this variant in the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Visuals are AI-generated presentation mockups using the user-selected Vossie wordmark. This is a brand and product concept, not a working application. Sample prices, routes, people, earnings and timings are illustrative. No affiliation with Plato or Uber is implied. Proposed icon use. Final small-size optical review and platform exports remain production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HEX values are proposed design tokens for this brand concept.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guidance. Accessibility testing is required on implemented UI; no compliance certification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uses installed DejaVu Sans. Generated UI mockups approximate rounded sans typography; exact UI typesetting is a subsequent design implementation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usage rules and starting minimum sizes; these require optical validation after creating production vector masters.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original copy examples. No unsupported delivery or protection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Visuals are AI-generated presentation mockups using the user-selected Vossie wordmark. This is a brand and product concept, not a working application. Sample prices, routes, people, earnings and timings are illustrative. No affiliation with Plato or Uber is implied. Bag, mailer, envelope, seal and insert concept.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Visuals are AI-generated presentation mockups using the user-selected Vossie wordmark. This is a brand and product concept, not a working application. Sample prices, routes, people, earnings and timings are illustrative. No affiliation with Plato or Uber is implied. Concept artwork is not a print-ready dieline or material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Visuals are AI-generated presentation mockups using the user-selected Vossie wordmark. This is a brand and product concept, not a working application. Sample prices, routes, people, earnings and timings are illustrative. No affiliation with Plato or Uber is implied. Tote, courier apparel, campaign cards and stickers illustrate the identity across campus touchpoints.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EduHackers_Developer_UX_Workflow_Wireframes_Research_Dossier(2).pdf, pages 11–14. Proposed seller dispatch, courier delivery and operations flows. Latest user instruction: Uber-inspired functionality and canvases, Plato-inspired visuals. Proposed navigation structure incorporating latest user direction.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Visuals are AI-generated presentation mockups using the user-selected Vossie wordmark. This is a brand and product concept, not a working application. Sample prices, routes, people, earnings and timings are illustrative. No affiliation with Plato or Uber is implied. Source: EduHackers_Developer_UX_Workflow_Wireframes_Research_Dossier(2).pdf, pages 11–14. Proposed seller dispatch, courier delivery and operations flows. Latest user instruction: Uber-inspired functionality and canvases, Plato-inspired visuals. The “Send” entry is an exploratory addition, subject to scope confirmation. Destination and fulfilment must be selected before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Visuals are AI-generated presentation mockups using the user-selected Vossie wordmark. This is a brand and product concept, not a working application. Sample prices, routes, people, earnings and timings are illustrative. No affiliation with Plato or Uber is implied. Source: EduHackers_Developer_UX_Workflow_Wireframes_Research_Dossier(2).pdf, pages 11–14. Proposed seller dispatch, courier delivery and operations flows. Latest user instruction: Uber-inspired functionality and canvases, Plato-inspired visuals. Dispatch locks on first valid acceptance. Server owns countdown and acceptance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EduHackers_Developer_UX_Workflow_Wireframes_Research_Dossier(2).pdf, pages 11–14. Proposed seller dispatch, courier delivery and operations flows. Latest user instruction: Uber-inspired functionality and canvases, Plato-inspired visuals. Protected payment, fee architecture and payout rules remain research and implementation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EduHackers_Developer_UX_Workflow_Wireframes_Research_Dossier(2).pdf, pages 11–14. Proposed seller dispatch, courier delivery and operations flows. Latest user instruction: Uber-inspired functionality and canvases, Plato-inspired visuals. These are proposed recovery behaviours; policies and state transitions require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EduHackers_Full_Marketplace_Research_Dossier(2).pdf, executive summary and sections 14–18, 33. User-supplied research hypotheses, not validated market results. Source: EduHackers_Developer_UX_Workflow_Wireframes_Research_Dossier(2).pdf, pages 11–14. Proposed seller dispatch, courier delivery and operations flows. Latest user instruction: Uber-inspired functionality and canvases, Plato-inspired visuals.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Visuals are AI-generated presentation mockups using the user-selected Vossie wordmark. This is a brand and product concept, not a working application. Sample prices, routes, people, earnings and timings are illustrative. No affiliation with Plato or Uber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EduHackers_Full_Marketplace_Research_Dossier(2).pdf, executive summary and sections 14–18, 33. User-supplied research hypotheses, not validated market results. Source: EduHackers_Developer_UX_Workflow_Wireframes_Research_Dossier(2).pdf, pages 11–14. Proposed seller dispatch, courier delivery and operations flows. Latest user instruction: Uber-inspired functionality and canvases, Plato-inspired visuals. Visuals are AI-generated presentation mockups using the user-selected Vossie wordmark. This is a brand and product concept, not a working application. Sample prices, routes, people, earnings and timings are illustrative. No affiliation with Plato or Uber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914f2f70ce42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fe6ab719184ef5" /><Relationship Type="http://schemas.openxmlformats.org/officeDocument/2006/relationships/slideLayout" Target="/ppt/slideLayouts/slideLayout1.xml" Id="R373648d8a13445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3648d8a13445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1d3d4b27a04448" /><Relationship Type="http://schemas.openxmlformats.org/officeDocument/2006/relationships/image" Target="/ppt/media/image.png" Id="Rb3bca68eecb7442d" /><Relationship Type="http://schemas.openxmlformats.org/officeDocument/2006/relationships/notesSlide" Target="/ppt/notesSlides/notesSlide1.xml" Id="Rc0645e7328404d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17ad6e7989415c" /><Relationship Type="http://schemas.openxmlformats.org/officeDocument/2006/relationships/notesSlide" Target="/ppt/notesSlides/notesSlide2.xml" Id="R4c897a56a49641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19f269b2ae4a29" /><Relationship Type="http://schemas.openxmlformats.org/officeDocument/2006/relationships/notesSlide" Target="/ppt/notesSlides/notesSlide3.xml" Id="R11f4da0e11cf4c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8d98dbcc1e4831" /><Relationship Type="http://schemas.openxmlformats.org/officeDocument/2006/relationships/image" Target="/ppt/media/image2.png" Id="R1c43538f135c42ef" /><Relationship Type="http://schemas.openxmlformats.org/officeDocument/2006/relationships/notesSlide" Target="/ppt/notesSlides/notesSlide4.xml" Id="R59473e2a02c644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cbb4e694f14a4a" /><Relationship Type="http://schemas.openxmlformats.org/officeDocument/2006/relationships/image" Target="/ppt/media/image3.png" Id="R88ce51c1bcf44894" /><Relationship Type="http://schemas.openxmlformats.org/officeDocument/2006/relationships/notesSlide" Target="/ppt/notesSlides/notesSlide5.xml" Id="R5a40a9a6a4814d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5d0f869b3e4b0f" /><Relationship Type="http://schemas.openxmlformats.org/officeDocument/2006/relationships/notesSlide" Target="/ppt/notesSlides/notesSlide6.xml" Id="R3bb6052e5c1d41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c71d1cd6d6426a" /><Relationship Type="http://schemas.openxmlformats.org/officeDocument/2006/relationships/notesSlide" Target="/ppt/notesSlides/notesSlide7.xml" Id="Rb7cdf9faa88e42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bdc778a76e40fc" /><Relationship Type="http://schemas.openxmlformats.org/officeDocument/2006/relationships/notesSlide" Target="/ppt/notesSlides/notesSlide8.xml" Id="R71cef3aca4ce4a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cd7c03ea50c415e" /><Relationship Type="http://schemas.openxmlformats.org/officeDocument/2006/relationships/notesSlide" Target="/ppt/notesSlides/notesSlide9.xml" Id="R7e80c211b12b4c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9c00a7463154dfa" /><Relationship Type="http://schemas.openxmlformats.org/officeDocument/2006/relationships/notesSlide" Target="/ppt/notesSlides/notesSlide10.xml" Id="R2abebbf2592d44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2bd942c1fb4a91" /><Relationship Type="http://schemas.openxmlformats.org/officeDocument/2006/relationships/image" Target="/ppt/media/image4.png" Id="R3d3944f0ff184932" /><Relationship Type="http://schemas.openxmlformats.org/officeDocument/2006/relationships/notesSlide" Target="/ppt/notesSlides/notesSlide11.xml" Id="Radfb97f6c37b46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2c398dd03ce4c91" /><Relationship Type="http://schemas.openxmlformats.org/officeDocument/2006/relationships/notesSlide" Target="/ppt/notesSlides/notesSlide12.xml" Id="R8c6f6f115c1548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0dabe1e6b2541fe" /><Relationship Type="http://schemas.openxmlformats.org/officeDocument/2006/relationships/image" Target="/ppt/media/image5.png" Id="R8164540c735c4eb1" /><Relationship Type="http://schemas.openxmlformats.org/officeDocument/2006/relationships/notesSlide" Target="/ppt/notesSlides/notesSlide13.xml" Id="R4915bc6b30a64a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51483a6b4b94eaa" /><Relationship Type="http://schemas.openxmlformats.org/officeDocument/2006/relationships/notesSlide" Target="/ppt/notesSlides/notesSlide14.xml" Id="Rdfafd8321bf2410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7786b414e2144fc" /><Relationship Type="http://schemas.openxmlformats.org/officeDocument/2006/relationships/image" Target="/ppt/media/image6.png" Id="Rff745546994440e8" /><Relationship Type="http://schemas.openxmlformats.org/officeDocument/2006/relationships/notesSlide" Target="/ppt/notesSlides/notesSlide15.xml" Id="Ra0915d77914f47f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aa88db77c1243cc" /><Relationship Type="http://schemas.openxmlformats.org/officeDocument/2006/relationships/image" Target="/ppt/media/image7.png" Id="Rd4d5a6d060ad4d54" /><Relationship Type="http://schemas.openxmlformats.org/officeDocument/2006/relationships/notesSlide" Target="/ppt/notesSlides/notesSlide16.xml" Id="Raf2597ad8f6b444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2279aeab5f34460" /><Relationship Type="http://schemas.openxmlformats.org/officeDocument/2006/relationships/notesSlide" Target="/ppt/notesSlides/notesSlide17.xml" Id="R3af954c47e6c4ed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55a7496c1474db6" /><Relationship Type="http://schemas.openxmlformats.org/officeDocument/2006/relationships/notesSlide" Target="/ppt/notesSlides/notesSlide18.xml" Id="R6a54780aac43413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e83f3555329472b" /><Relationship Type="http://schemas.openxmlformats.org/officeDocument/2006/relationships/notesSlide" Target="/ppt/notesSlides/notesSlide19.xml" Id="Rc7ffc419d58849e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6f5c2b145284b6e" /><Relationship Type="http://schemas.openxmlformats.org/officeDocument/2006/relationships/notesSlide" Target="/ppt/notesSlides/notesSlide20.xml" Id="R40cfcb8a824340c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8e8de3376114274" /><Relationship Type="http://schemas.openxmlformats.org/officeDocument/2006/relationships/notesSlide" Target="/ppt/notesSlides/notesSlide21.xml" Id="R63bdb1fba59e46f5" /></Relationships>
</file>

<file path=ppt/slides/slide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3F1A03F-5F45-4301-AF89-39443B1420A8}"/>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01</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3bca68eecb7442d"/>
          <a:stretch xmlns:a="http://schemas.openxmlformats.org/drawingml/2006/main"/>
        </p:blipFill>
        <p:spPr>
          <a:xfrm xmlns:a="http://schemas.openxmlformats.org/drawingml/2006/main">
            <a:off x="2524125" y="857250"/>
            <a:ext cx="7143750" cy="4762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9D35FD8-2FF8-4A74-84C1-79BCA624C83D}"/>
              </a:ext>
            </a:extLst>
          </p:cNvPr>
          <p:cNvSpPr>
            <a:spLocks xmlns:a="http://schemas.openxmlformats.org/drawingml/2006/main" noGrp="1"/>
          </p:cNvSpPr>
          <p:nvPr/>
        </p:nvSpPr>
        <p:spPr>
          <a:xfrm xmlns:a="http://schemas.openxmlformats.org/drawingml/2006/main">
            <a:off x="609600" y="5762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9475B"/>
                </a:solidFill>
                <a:latin typeface="DejaVu Sans"/>
                <a:ea typeface="DejaVu Sans"/>
                <a:cs typeface="DejaVu Sans"/>
              </a:defRPr>
            </a:pPr>
            <a:r>
              <a:rPr sz="2550" b="0">
                <a:solidFill>
                  <a:srgbClr val="29475B"/>
                </a:solidFill>
                <a:latin typeface="DejaVu Sans"/>
                <a:ea typeface="DejaVu Sans"/>
                <a:cs typeface="DejaVu Sans"/>
              </a:rPr>
              <a:t>Brand identity &amp; app experience</a:t>
            </a:r>
          </a:p>
        </p:txBody>
      </p:sp>
      <p:sp>
        <p:nvSpPr>
          <p:cNvPr id="4" name="">
            <a:extLst xmlns:a="http://schemas.openxmlformats.org/drawingml/2006/main">
              <a:ext uri="{FF2B5EF4-FFF2-40B4-BE49-F238E27FC236}">
                <a16:creationId xmlns:a16="http://schemas.microsoft.com/office/drawing/2014/main" id="{E26D8854-D180-410B-8954-849B8B7A37D8}"/>
              </a:ext>
            </a:extLst>
          </p:cNvPr>
          <p:cNvSpPr>
            <a:spLocks xmlns:a="http://schemas.openxmlformats.org/drawingml/2006/main" noGrp="1"/>
          </p:cNvSpPr>
          <p:nvPr/>
        </p:nvSpPr>
        <p:spPr>
          <a:xfrm xmlns:a="http://schemas.openxmlformats.org/drawingml/2006/main">
            <a:off x="609600" y="631507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7487"/>
                </a:solidFill>
                <a:latin typeface="DejaVu Sans"/>
                <a:ea typeface="DejaVu Sans"/>
                <a:cs typeface="DejaVu Sans"/>
              </a:defRPr>
            </a:pPr>
            <a:r>
              <a:rPr sz="1200" b="0">
                <a:solidFill>
                  <a:srgbClr val="567487"/>
                </a:solidFill>
                <a:latin typeface="DejaVu Sans"/>
                <a:ea typeface="DejaVu Sans"/>
                <a:cs typeface="DejaVu Sans"/>
              </a:rPr>
              <a:t>EduHackers  /  Presentation concept  /  September 2026</a:t>
            </a:r>
          </a:p>
        </p:txBody>
      </p:sp>
    </p:spTree>
    <p:extLst>
      <p:ext uri="{BB962C8B-B14F-4D97-AF65-F5344CB8AC3E}">
        <p14:creationId xmlns:p14="http://schemas.microsoft.com/office/powerpoint/2010/main" val="823517409"/>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2E543E3-A3C7-4680-A4B2-09910FAC3A76}"/>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02</a:t>
            </a:r>
          </a:p>
        </p:txBody>
      </p:sp>
      <p:sp>
        <p:nvSpPr>
          <p:cNvPr id="2" name="">
            <a:extLst xmlns:a="http://schemas.openxmlformats.org/drawingml/2006/main">
              <a:ext uri="{FF2B5EF4-FFF2-40B4-BE49-F238E27FC236}">
                <a16:creationId xmlns:a16="http://schemas.microsoft.com/office/drawing/2014/main" id="{46AB55A1-E33A-4292-A2CE-6EF007F00D94}"/>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A marketplace for campus life</a:t>
            </a:r>
          </a:p>
        </p:txBody>
      </p:sp>
      <p:sp>
        <p:nvSpPr>
          <p:cNvPr id="3" name="">
            <a:extLst xmlns:a="http://schemas.openxmlformats.org/drawingml/2006/main">
              <a:ext uri="{FF2B5EF4-FFF2-40B4-BE49-F238E27FC236}">
                <a16:creationId xmlns:a16="http://schemas.microsoft.com/office/drawing/2014/main" id="{26E32A89-8A74-4754-B6B6-DB1A8BE6442D}"/>
              </a:ext>
            </a:extLst>
          </p:cNvPr>
          <p:cNvSpPr>
            <a:spLocks xmlns:a="http://schemas.openxmlformats.org/drawingml/2006/main" noGrp="1"/>
          </p:cNvSpPr>
          <p:nvPr/>
        </p:nvSpPr>
        <p:spPr>
          <a:xfrm xmlns:a="http://schemas.openxmlformats.org/drawingml/2006/main">
            <a:off x="609600" y="1695450"/>
            <a:ext cx="647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29475B"/>
                </a:solidFill>
                <a:latin typeface="DejaVu Sans"/>
                <a:ea typeface="DejaVu Sans"/>
                <a:cs typeface="DejaVu Sans"/>
              </a:defRPr>
            </a:pPr>
            <a:r>
              <a:rPr sz="4650" b="1">
                <a:solidFill>
                  <a:srgbClr val="29475B"/>
                </a:solidFill>
                <a:latin typeface="DejaVu Sans"/>
                <a:ea typeface="DejaVu Sans"/>
                <a:cs typeface="DejaVu Sans"/>
              </a:rPr>
              <a:t>Good things.</a:t>
            </a:r>
          </a:p>
          <a:p xmlns:a="http://schemas.openxmlformats.org/drawingml/2006/main">
            <a:pPr>
              <a:defRPr sz="4650" b="1">
                <a:solidFill>
                  <a:srgbClr val="29475B"/>
                </a:solidFill>
                <a:latin typeface="DejaVu Sans"/>
                <a:ea typeface="DejaVu Sans"/>
                <a:cs typeface="DejaVu Sans"/>
              </a:defRPr>
            </a:pPr>
            <a:r>
              <a:rPr sz="4650" b="1">
                <a:solidFill>
                  <a:srgbClr val="29475B"/>
                </a:solidFill>
                <a:latin typeface="DejaVu Sans"/>
                <a:ea typeface="DejaVu Sans"/>
                <a:cs typeface="DejaVu Sans"/>
              </a:rPr>
              <a:t>Brighter campus.</a:t>
            </a:r>
          </a:p>
        </p:txBody>
      </p:sp>
      <p:sp>
        <p:nvSpPr>
          <p:cNvPr id="4" name="">
            <a:extLst xmlns:a="http://schemas.openxmlformats.org/drawingml/2006/main">
              <a:ext uri="{FF2B5EF4-FFF2-40B4-BE49-F238E27FC236}">
                <a16:creationId xmlns:a16="http://schemas.microsoft.com/office/drawing/2014/main" id="{C4D364AF-40F6-4D16-B417-8E47963E82D3}"/>
              </a:ext>
            </a:extLst>
          </p:cNvPr>
          <p:cNvSpPr>
            <a:spLocks xmlns:a="http://schemas.openxmlformats.org/drawingml/2006/main" noGrp="1"/>
          </p:cNvSpPr>
          <p:nvPr/>
        </p:nvSpPr>
        <p:spPr>
          <a:xfrm xmlns:a="http://schemas.openxmlformats.org/drawingml/2006/main">
            <a:off x="7477125" y="1905000"/>
            <a:ext cx="40481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9475B"/>
                </a:solidFill>
                <a:latin typeface="DejaVu Sans"/>
                <a:ea typeface="DejaVu Sans"/>
                <a:cs typeface="DejaVu Sans"/>
              </a:defRPr>
            </a:pPr>
            <a:r>
              <a:rPr sz="2100" b="0">
                <a:solidFill>
                  <a:srgbClr val="29475B"/>
                </a:solidFill>
                <a:latin typeface="DejaVu Sans"/>
                <a:ea typeface="DejaVu Sans"/>
                <a:cs typeface="DejaVu Sans"/>
              </a:rPr>
              <a:t>A familiar place to discover student businesses, buy everyday essentials and arrange collection or delivery.</a:t>
            </a:r>
          </a:p>
        </p:txBody>
      </p:sp>
      <p:sp>
        <p:nvSpPr>
          <p:cNvPr id="5" name="">
            <a:extLst xmlns:a="http://schemas.openxmlformats.org/drawingml/2006/main">
              <a:ext uri="{FF2B5EF4-FFF2-40B4-BE49-F238E27FC236}">
                <a16:creationId xmlns:a16="http://schemas.microsoft.com/office/drawing/2014/main" id="{EF04D716-7045-4F94-ABDD-6E91C3FBD2C5}"/>
              </a:ext>
            </a:extLst>
          </p:cNvPr>
          <p:cNvSpPr>
            <a:spLocks xmlns:a="http://schemas.openxmlformats.org/drawingml/2006/main" noGrp="1"/>
          </p:cNvSpPr>
          <p:nvPr/>
        </p:nvSpPr>
        <p:spPr>
          <a:xfrm xmlns:a="http://schemas.openxmlformats.org/drawingml/2006/main">
            <a:off x="609600" y="470535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9475B"/>
                </a:solidFill>
                <a:latin typeface="DejaVu Sans"/>
                <a:ea typeface="DejaVu Sans"/>
                <a:cs typeface="DejaVu Sans"/>
              </a:defRPr>
            </a:pPr>
            <a:r>
              <a:rPr sz="2100" b="0">
                <a:solidFill>
                  <a:srgbClr val="29475B"/>
                </a:solidFill>
                <a:latin typeface="DejaVu Sans"/>
                <a:ea typeface="DejaVu Sans"/>
                <a:cs typeface="DejaVu Sans"/>
              </a:rPr>
              <a:t>The wider concept connects unmet demand with student entrepreneurs and incubation support.</a:t>
            </a:r>
          </a:p>
        </p:txBody>
      </p:sp>
    </p:spTree>
    <p:extLst>
      <p:ext uri="{BB962C8B-B14F-4D97-AF65-F5344CB8AC3E}">
        <p14:creationId xmlns:p14="http://schemas.microsoft.com/office/powerpoint/2010/main" val="734246961"/>
      </p:ext>
    </p:extLst>
  </p:cSld>
</p:sld>
</file>

<file path=ppt/slides/slide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EAC678-CBA2-49BB-A307-D22F08C64035}"/>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03</a:t>
            </a:r>
          </a:p>
        </p:txBody>
      </p:sp>
      <p:sp>
        <p:nvSpPr>
          <p:cNvPr id="2" name="">
            <a:extLst xmlns:a="http://schemas.openxmlformats.org/drawingml/2006/main">
              <a:ext uri="{FF2B5EF4-FFF2-40B4-BE49-F238E27FC236}">
                <a16:creationId xmlns:a16="http://schemas.microsoft.com/office/drawing/2014/main" id="{0CE0B08D-C18C-4F04-BA20-49B4F2DF648C}"/>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The design direction</a:t>
            </a:r>
          </a:p>
        </p:txBody>
      </p:sp>
      <p:sp>
        <p:nvSpPr>
          <p:cNvPr id="3" name="">
            <a:extLst xmlns:a="http://schemas.openxmlformats.org/drawingml/2006/main">
              <a:ext uri="{FF2B5EF4-FFF2-40B4-BE49-F238E27FC236}">
                <a16:creationId xmlns:a16="http://schemas.microsoft.com/office/drawing/2014/main" id="{E026FB15-DB78-4A4A-B5CF-317A5DC64A31}"/>
              </a:ext>
            </a:extLst>
          </p:cNvPr>
          <p:cNvSpPr>
            <a:spLocks xmlns:a="http://schemas.openxmlformats.org/drawingml/2006/main" noGrp="1"/>
          </p:cNvSpPr>
          <p:nvPr/>
        </p:nvSpPr>
        <p:spPr>
          <a:xfrm xmlns:a="http://schemas.openxmlformats.org/drawingml/2006/main">
            <a:off x="609600" y="17526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9475B"/>
                </a:solidFill>
                <a:latin typeface="DejaVu Sans"/>
                <a:ea typeface="DejaVu Sans"/>
                <a:cs typeface="DejaVu Sans"/>
              </a:defRPr>
            </a:pPr>
            <a:r>
              <a:rPr sz="2100" b="1">
                <a:solidFill>
                  <a:srgbClr val="29475B"/>
                </a:solidFill>
                <a:latin typeface="DejaVu Sans"/>
                <a:ea typeface="DejaVu Sans"/>
                <a:cs typeface="DejaVu Sans"/>
              </a:rPr>
              <a:t>How it works</a:t>
            </a:r>
          </a:p>
        </p:txBody>
      </p:sp>
      <p:sp>
        <p:nvSpPr>
          <p:cNvPr id="4" name="">
            <a:extLst xmlns:a="http://schemas.openxmlformats.org/drawingml/2006/main">
              <a:ext uri="{FF2B5EF4-FFF2-40B4-BE49-F238E27FC236}">
                <a16:creationId xmlns:a16="http://schemas.microsoft.com/office/drawing/2014/main" id="{CC11976F-DF43-4F6C-A3FD-251F50562D75}"/>
              </a:ext>
            </a:extLst>
          </p:cNvPr>
          <p:cNvSpPr>
            <a:spLocks xmlns:a="http://schemas.openxmlformats.org/drawingml/2006/main" noGrp="1"/>
          </p:cNvSpPr>
          <p:nvPr/>
        </p:nvSpPr>
        <p:spPr>
          <a:xfrm xmlns:a="http://schemas.openxmlformats.org/drawingml/2006/main">
            <a:off x="609600" y="2324100"/>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475B"/>
                </a:solidFill>
                <a:latin typeface="DejaVu Sans"/>
                <a:ea typeface="DejaVu Sans"/>
                <a:cs typeface="DejaVu Sans"/>
              </a:defRPr>
            </a:pPr>
            <a:r>
              <a:rPr sz="1800" b="0">
                <a:solidFill>
                  <a:srgbClr val="29475B"/>
                </a:solidFill>
                <a:latin typeface="DejaVu Sans"/>
                <a:ea typeface="DejaVu Sans"/>
                <a:cs typeface="DejaVu Sans"/>
              </a:rPr>
              <a:t>Uber-inspired task flows: location first, clear choices, dispatch requests, live status and one obvious next action.</a:t>
            </a:r>
          </a:p>
        </p:txBody>
      </p:sp>
      <p:sp>
        <p:nvSpPr>
          <p:cNvPr id="5" name="">
            <a:extLst xmlns:a="http://schemas.openxmlformats.org/drawingml/2006/main">
              <a:ext uri="{FF2B5EF4-FFF2-40B4-BE49-F238E27FC236}">
                <a16:creationId xmlns:a16="http://schemas.microsoft.com/office/drawing/2014/main" id="{B40AE12B-F5E4-4E79-A4BA-05B8A0CA1185}"/>
              </a:ext>
            </a:extLst>
          </p:cNvPr>
          <p:cNvSpPr>
            <a:spLocks xmlns:a="http://schemas.openxmlformats.org/drawingml/2006/main" noGrp="1"/>
          </p:cNvSpPr>
          <p:nvPr/>
        </p:nvSpPr>
        <p:spPr>
          <a:xfrm xmlns:a="http://schemas.openxmlformats.org/drawingml/2006/main">
            <a:off x="6477000" y="17526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9475B"/>
                </a:solidFill>
                <a:latin typeface="DejaVu Sans"/>
                <a:ea typeface="DejaVu Sans"/>
                <a:cs typeface="DejaVu Sans"/>
              </a:defRPr>
            </a:pPr>
            <a:r>
              <a:rPr sz="2100" b="1">
                <a:solidFill>
                  <a:srgbClr val="29475B"/>
                </a:solidFill>
                <a:latin typeface="DejaVu Sans"/>
                <a:ea typeface="DejaVu Sans"/>
                <a:cs typeface="DejaVu Sans"/>
              </a:rPr>
              <a:t>How it feels</a:t>
            </a:r>
          </a:p>
        </p:txBody>
      </p:sp>
      <p:sp>
        <p:nvSpPr>
          <p:cNvPr id="6" name="">
            <a:extLst xmlns:a="http://schemas.openxmlformats.org/drawingml/2006/main">
              <a:ext uri="{FF2B5EF4-FFF2-40B4-BE49-F238E27FC236}">
                <a16:creationId xmlns:a16="http://schemas.microsoft.com/office/drawing/2014/main" id="{A582A064-BB47-4A1B-90DE-5C40F1A6F614}"/>
              </a:ext>
            </a:extLst>
          </p:cNvPr>
          <p:cNvSpPr>
            <a:spLocks xmlns:a="http://schemas.openxmlformats.org/drawingml/2006/main" noGrp="1"/>
          </p:cNvSpPr>
          <p:nvPr/>
        </p:nvSpPr>
        <p:spPr>
          <a:xfrm xmlns:a="http://schemas.openxmlformats.org/drawingml/2006/main">
            <a:off x="6477000" y="2324100"/>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475B"/>
                </a:solidFill>
                <a:latin typeface="DejaVu Sans"/>
                <a:ea typeface="DejaVu Sans"/>
                <a:cs typeface="DejaVu Sans"/>
              </a:defRPr>
            </a:pPr>
            <a:r>
              <a:rPr sz="1800" b="0">
                <a:solidFill>
                  <a:srgbClr val="29475B"/>
                </a:solidFill>
                <a:latin typeface="DejaVu Sans"/>
                <a:ea typeface="DejaVu Sans"/>
                <a:cs typeface="DejaVu Sans"/>
              </a:rPr>
              <a:t>Plato-inspired restraint: warm ivory, soft blue, rounded lettering, quiet packaging and generous space.</a:t>
            </a:r>
          </a:p>
        </p:txBody>
      </p:sp>
      <p:sp>
        <p:nvSpPr>
          <p:cNvPr id="7" name="">
            <a:extLst xmlns:a="http://schemas.openxmlformats.org/drawingml/2006/main">
              <a:ext uri="{FF2B5EF4-FFF2-40B4-BE49-F238E27FC236}">
                <a16:creationId xmlns:a16="http://schemas.microsoft.com/office/drawing/2014/main" id="{010D1E88-F858-4DC4-A6CA-E882188FFFFA}"/>
              </a:ext>
            </a:extLst>
          </p:cNvPr>
          <p:cNvSpPr>
            <a:spLocks xmlns:a="http://schemas.openxmlformats.org/drawingml/2006/main" noGrp="1"/>
          </p:cNvSpPr>
          <p:nvPr/>
        </p:nvSpPr>
        <p:spPr>
          <a:xfrm xmlns:a="http://schemas.openxmlformats.org/drawingml/2006/main">
            <a:off x="609600" y="48577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9475B"/>
                </a:solidFill>
                <a:latin typeface="DejaVu Sans"/>
                <a:ea typeface="DejaVu Sans"/>
                <a:cs typeface="DejaVu Sans"/>
              </a:defRPr>
            </a:pPr>
            <a:r>
              <a:rPr sz="2250" b="0">
                <a:solidFill>
                  <a:srgbClr val="29475B"/>
                </a:solidFill>
                <a:latin typeface="DejaVu Sans"/>
                <a:ea typeface="DejaVu Sans"/>
                <a:cs typeface="DejaVu Sans"/>
              </a:rPr>
              <a:t>Vossie brings these references together in an original campus marketplace identity.</a:t>
            </a:r>
          </a:p>
        </p:txBody>
      </p:sp>
    </p:spTree>
    <p:extLst>
      <p:ext uri="{BB962C8B-B14F-4D97-AF65-F5344CB8AC3E}">
        <p14:creationId xmlns:p14="http://schemas.microsoft.com/office/powerpoint/2010/main" val="1500753286"/>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6699A3-C136-43C2-A0F4-546D747C57FF}"/>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04</a:t>
            </a:r>
          </a:p>
        </p:txBody>
      </p:sp>
      <p:sp>
        <p:nvSpPr>
          <p:cNvPr id="2" name="">
            <a:extLst xmlns:a="http://schemas.openxmlformats.org/drawingml/2006/main">
              <a:ext uri="{FF2B5EF4-FFF2-40B4-BE49-F238E27FC236}">
                <a16:creationId xmlns:a16="http://schemas.microsoft.com/office/drawing/2014/main" id="{373A5F16-B438-4152-BB06-45E67A13B374}"/>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The primary wordmark</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c43538f135c42ef"/>
          <a:stretch xmlns:a="http://schemas.openxmlformats.org/drawingml/2006/main"/>
        </p:blipFill>
        <p:spPr>
          <a:xfrm xmlns:a="http://schemas.openxmlformats.org/drawingml/2006/main">
            <a:off x="869156" y="1266825"/>
            <a:ext cx="6786563"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53F2739-A340-4458-81DD-8F45F4836256}"/>
              </a:ext>
            </a:extLst>
          </p:cNvPr>
          <p:cNvSpPr>
            <a:spLocks xmlns:a="http://schemas.openxmlformats.org/drawingml/2006/main" noGrp="1"/>
          </p:cNvSpPr>
          <p:nvPr/>
        </p:nvSpPr>
        <p:spPr>
          <a:xfrm xmlns:a="http://schemas.openxmlformats.org/drawingml/2006/main">
            <a:off x="8429625" y="1809750"/>
            <a:ext cx="30480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475B"/>
                </a:solidFill>
                <a:latin typeface="DejaVu Sans"/>
                <a:ea typeface="DejaVu Sans"/>
                <a:cs typeface="DejaVu Sans"/>
              </a:defRPr>
            </a:pPr>
            <a:r>
              <a:rPr sz="1875" b="0">
                <a:solidFill>
                  <a:srgbClr val="29475B"/>
                </a:solidFill>
                <a:latin typeface="DejaVu Sans"/>
                <a:ea typeface="DejaVu Sans"/>
                <a:cs typeface="DejaVu Sans"/>
              </a:rPr>
              <a:t>Rounded lowercase lettering</a:t>
            </a:r>
          </a:p>
          <a:p xmlns:a="http://schemas.openxmlformats.org/drawingml/2006/main">
            <a:r>
              <a:t/>
            </a:r>
          </a:p>
          <a:p xmlns:a="http://schemas.openxmlformats.org/drawingml/2006/main">
            <a:pPr>
              <a:defRPr sz="1875" b="0">
                <a:solidFill>
                  <a:srgbClr val="29475B"/>
                </a:solidFill>
                <a:latin typeface="DejaVu Sans"/>
                <a:ea typeface="DejaVu Sans"/>
                <a:cs typeface="DejaVu Sans"/>
              </a:defRPr>
            </a:pPr>
            <a:r>
              <a:rPr sz="1875" b="0">
                <a:solidFill>
                  <a:srgbClr val="29475B"/>
                </a:solidFill>
                <a:latin typeface="DejaVu Sans"/>
                <a:ea typeface="DejaVu Sans"/>
                <a:cs typeface="DejaVu Sans"/>
              </a:rPr>
              <a:t>A distinctive joined “ss”</a:t>
            </a:r>
          </a:p>
          <a:p xmlns:a="http://schemas.openxmlformats.org/drawingml/2006/main">
            <a:r>
              <a:t/>
            </a:r>
          </a:p>
          <a:p xmlns:a="http://schemas.openxmlformats.org/drawingml/2006/main">
            <a:pPr>
              <a:defRPr sz="1875" b="0">
                <a:solidFill>
                  <a:srgbClr val="29475B"/>
                </a:solidFill>
                <a:latin typeface="DejaVu Sans"/>
                <a:ea typeface="DejaVu Sans"/>
                <a:cs typeface="DejaVu Sans"/>
              </a:defRPr>
            </a:pPr>
            <a:r>
              <a:rPr sz="1875" b="0">
                <a:solidFill>
                  <a:srgbClr val="29475B"/>
                </a:solidFill>
                <a:latin typeface="DejaVu Sans"/>
                <a:ea typeface="DejaVu Sans"/>
                <a:cs typeface="DejaVu Sans"/>
              </a:rPr>
              <a:t>A clear marketplace descriptor</a:t>
            </a:r>
          </a:p>
        </p:txBody>
      </p:sp>
      <p:sp>
        <p:nvSpPr>
          <p:cNvPr id="5" name="">
            <a:extLst xmlns:a="http://schemas.openxmlformats.org/drawingml/2006/main">
              <a:ext uri="{FF2B5EF4-FFF2-40B4-BE49-F238E27FC236}">
                <a16:creationId xmlns:a16="http://schemas.microsoft.com/office/drawing/2014/main" id="{E7733E41-B786-4BDA-BA86-08DBA28BC1E2}"/>
              </a:ext>
            </a:extLst>
          </p:cNvPr>
          <p:cNvSpPr>
            <a:spLocks xmlns:a="http://schemas.openxmlformats.org/drawingml/2006/main" noGrp="1"/>
          </p:cNvSpPr>
          <p:nvPr/>
        </p:nvSpPr>
        <p:spPr>
          <a:xfrm xmlns:a="http://schemas.openxmlformats.org/drawingml/2006/main">
            <a:off x="609600" y="58578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7487"/>
                </a:solidFill>
                <a:latin typeface="DejaVu Sans"/>
                <a:ea typeface="DejaVu Sans"/>
                <a:cs typeface="DejaVu Sans"/>
              </a:defRPr>
            </a:pPr>
            <a:r>
              <a:rPr sz="1575" b="0">
                <a:solidFill>
                  <a:srgbClr val="567487"/>
                </a:solidFill>
                <a:latin typeface="DejaVu Sans"/>
                <a:ea typeface="DejaVu Sans"/>
                <a:cs typeface="DejaVu Sans"/>
              </a:rPr>
              <a:t>Use the supplied artwork. Keep its proportions and letter spacing intact.</a:t>
            </a:r>
          </a:p>
        </p:txBody>
      </p:sp>
    </p:spTree>
    <p:extLst>
      <p:ext uri="{BB962C8B-B14F-4D97-AF65-F5344CB8AC3E}">
        <p14:creationId xmlns:p14="http://schemas.microsoft.com/office/powerpoint/2010/main" val="539774628"/>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FA6E39-2B27-4271-ADF0-B08DE8F71DF1}"/>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05</a:t>
            </a:r>
          </a:p>
        </p:txBody>
      </p:sp>
      <p:sp>
        <p:nvSpPr>
          <p:cNvPr id="2" name="">
            <a:extLst xmlns:a="http://schemas.openxmlformats.org/drawingml/2006/main">
              <a:ext uri="{FF2B5EF4-FFF2-40B4-BE49-F238E27FC236}">
                <a16:creationId xmlns:a16="http://schemas.microsoft.com/office/drawing/2014/main" id="{35CBA9F8-BAA8-4C77-A263-FBF79DFA1071}"/>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The app icon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8ce51c1bcf44894"/>
          <a:stretch xmlns:a="http://schemas.openxmlformats.org/drawingml/2006/main"/>
        </p:blipFill>
        <p:spPr>
          <a:xfrm xmlns:a="http://schemas.openxmlformats.org/drawingml/2006/main">
            <a:off x="666750" y="1390650"/>
            <a:ext cx="4476750"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3FE1F98-AC4F-4E3C-8A10-69200991BD51}"/>
              </a:ext>
            </a:extLst>
          </p:cNvPr>
          <p:cNvSpPr>
            <a:spLocks xmlns:a="http://schemas.openxmlformats.org/drawingml/2006/main" noGrp="1"/>
          </p:cNvSpPr>
          <p:nvPr/>
        </p:nvSpPr>
        <p:spPr>
          <a:xfrm xmlns:a="http://schemas.openxmlformats.org/drawingml/2006/main">
            <a:off x="6048375" y="176212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9475B"/>
                </a:solidFill>
                <a:latin typeface="DejaVu Sans"/>
                <a:ea typeface="DejaVu Sans"/>
                <a:cs typeface="DejaVu Sans"/>
              </a:defRPr>
            </a:pPr>
            <a:r>
              <a:rPr sz="2100" b="1">
                <a:solidFill>
                  <a:srgbClr val="29475B"/>
                </a:solidFill>
                <a:latin typeface="DejaVu Sans"/>
                <a:ea typeface="DejaVu Sans"/>
                <a:cs typeface="DejaVu Sans"/>
              </a:rPr>
              <a:t>A symbol from the name</a:t>
            </a:r>
          </a:p>
        </p:txBody>
      </p:sp>
      <p:sp>
        <p:nvSpPr>
          <p:cNvPr id="5" name="">
            <a:extLst xmlns:a="http://schemas.openxmlformats.org/drawingml/2006/main">
              <a:ext uri="{FF2B5EF4-FFF2-40B4-BE49-F238E27FC236}">
                <a16:creationId xmlns:a16="http://schemas.microsoft.com/office/drawing/2014/main" id="{FC8ED788-F8F8-4269-B932-DE65B127B21D}"/>
              </a:ext>
            </a:extLst>
          </p:cNvPr>
          <p:cNvSpPr>
            <a:spLocks xmlns:a="http://schemas.openxmlformats.org/drawingml/2006/main" noGrp="1"/>
          </p:cNvSpPr>
          <p:nvPr/>
        </p:nvSpPr>
        <p:spPr>
          <a:xfrm xmlns:a="http://schemas.openxmlformats.org/drawingml/2006/main">
            <a:off x="6048375" y="2333625"/>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475B"/>
                </a:solidFill>
                <a:latin typeface="DejaVu Sans"/>
                <a:ea typeface="DejaVu Sans"/>
                <a:cs typeface="DejaVu Sans"/>
              </a:defRPr>
            </a:pPr>
            <a:r>
              <a:rPr sz="1800" b="0">
                <a:solidFill>
                  <a:srgbClr val="29475B"/>
                </a:solidFill>
                <a:latin typeface="DejaVu Sans"/>
                <a:ea typeface="DejaVu Sans"/>
                <a:cs typeface="DejaVu Sans"/>
              </a:rPr>
              <a:t>The joined “ss” carries the character of the wordmark into a compact icon.</a:t>
            </a:r>
          </a:p>
        </p:txBody>
      </p:sp>
      <p:sp>
        <p:nvSpPr>
          <p:cNvPr id="6" name="">
            <a:extLst xmlns:a="http://schemas.openxmlformats.org/drawingml/2006/main">
              <a:ext uri="{FF2B5EF4-FFF2-40B4-BE49-F238E27FC236}">
                <a16:creationId xmlns:a16="http://schemas.microsoft.com/office/drawing/2014/main" id="{998C12B6-D90E-4956-B5E9-43B8D6911F82}"/>
              </a:ext>
            </a:extLst>
          </p:cNvPr>
          <p:cNvSpPr>
            <a:spLocks xmlns:a="http://schemas.openxmlformats.org/drawingml/2006/main" noGrp="1"/>
          </p:cNvSpPr>
          <p:nvPr/>
        </p:nvSpPr>
        <p:spPr>
          <a:xfrm xmlns:a="http://schemas.openxmlformats.org/drawingml/2006/main">
            <a:off x="6048375" y="3762375"/>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475B"/>
                </a:solidFill>
                <a:latin typeface="DejaVu Sans"/>
                <a:ea typeface="DejaVu Sans"/>
                <a:cs typeface="DejaVu Sans"/>
              </a:defRPr>
            </a:pPr>
            <a:r>
              <a:rPr sz="1875" b="0">
                <a:solidFill>
                  <a:srgbClr val="29475B"/>
                </a:solidFill>
                <a:latin typeface="DejaVu Sans"/>
                <a:ea typeface="DejaVu Sans"/>
                <a:cs typeface="DejaVu Sans"/>
              </a:rPr>
              <a:t>Navy on ivory is the primary treatment. “Vossie” appears as the device label beneath the app.</a:t>
            </a:r>
          </a:p>
        </p:txBody>
      </p:sp>
      <p:sp>
        <p:nvSpPr>
          <p:cNvPr id="7" name="">
            <a:extLst xmlns:a="http://schemas.openxmlformats.org/drawingml/2006/main">
              <a:ext uri="{FF2B5EF4-FFF2-40B4-BE49-F238E27FC236}">
                <a16:creationId xmlns:a16="http://schemas.microsoft.com/office/drawing/2014/main" id="{C47DAEA0-CE03-449B-B787-A560BA0D03D3}"/>
              </a:ext>
            </a:extLst>
          </p:cNvPr>
          <p:cNvSpPr>
            <a:spLocks xmlns:a="http://schemas.openxmlformats.org/drawingml/2006/main" noGrp="1"/>
          </p:cNvSpPr>
          <p:nvPr/>
        </p:nvSpPr>
        <p:spPr>
          <a:xfrm xmlns:a="http://schemas.openxmlformats.org/drawingml/2006/main">
            <a:off x="6048375" y="525780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67487"/>
                </a:solidFill>
                <a:latin typeface="DejaVu Sans"/>
                <a:ea typeface="DejaVu Sans"/>
                <a:cs typeface="DejaVu Sans"/>
              </a:defRPr>
            </a:pPr>
            <a:r>
              <a:rPr sz="1500" b="0">
                <a:solidFill>
                  <a:srgbClr val="567487"/>
                </a:solidFill>
                <a:latin typeface="DejaVu Sans"/>
                <a:ea typeface="DejaVu Sans"/>
                <a:cs typeface="DejaVu Sans"/>
              </a:rPr>
              <a:t>Production export: supply a square master and let each platform apply its icon mask.</a:t>
            </a:r>
          </a:p>
        </p:txBody>
      </p:sp>
    </p:spTree>
    <p:extLst>
      <p:ext uri="{BB962C8B-B14F-4D97-AF65-F5344CB8AC3E}">
        <p14:creationId xmlns:p14="http://schemas.microsoft.com/office/powerpoint/2010/main" val="1451830623"/>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0419C5-DE00-483C-8D9B-5F42CAF9C5B1}"/>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06</a:t>
            </a:r>
          </a:p>
        </p:txBody>
      </p:sp>
      <p:sp>
        <p:nvSpPr>
          <p:cNvPr id="2" name="">
            <a:extLst xmlns:a="http://schemas.openxmlformats.org/drawingml/2006/main">
              <a:ext uri="{FF2B5EF4-FFF2-40B4-BE49-F238E27FC236}">
                <a16:creationId xmlns:a16="http://schemas.microsoft.com/office/drawing/2014/main" id="{C72A3CD9-5461-42D5-8B7A-D66D4BADE5BE}"/>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The colour palette</a:t>
            </a:r>
          </a:p>
        </p:txBody>
      </p:sp>
      <p:graphicFrame>
        <p:nvGraphicFramePr>
          <p:cNvPr id="7" name=""/>
          <p:cNvGraphicFramePr/>
          <p:nvPr/>
        </p:nvGraphicFramePr>
        <p:xfrm>
          <a:off xmlns:a="http://schemas.openxmlformats.org/drawingml/2006/main" x="609600" y="1381125"/>
          <a:ext xmlns:a="http://schemas.openxmlformats.org/drawingml/2006/main" cx="10972800" cy="4238625"/>
        </p:xfrm>
        <a:graphic xmlns:a="http://schemas.openxmlformats.org/drawingml/2006/main">
          <a:graphicData uri="http://schemas.openxmlformats.org/drawingml/2006/table">
            <a:tbl>
              <a:tblPr/>
              <a:tblGrid>
                <a:gridCol w="2667000"/>
                <a:gridCol w="2190750"/>
                <a:gridCol w="6115050"/>
              </a:tblGrid>
              <a:tr h="706438">
                <a:tc>
                  <a:txBody>
                    <a:bodyPr/>
                    <a:lstStyle/>
                    <a:p>
                      <a:r>
                        <a:rPr sz="1650" b="1">
                          <a:solidFill>
                            <a:srgbClr val="FAF8F2"/>
                          </a:solidFill>
                          <a:latin typeface="DejaVu Sans"/>
                          <a:ea typeface="DejaVu Sans"/>
                          <a:cs typeface="DejaVu Sans"/>
                        </a:rPr>
                        <a:t>Colour</a:t>
                      </a:r>
                    </a:p>
                  </a:txBody>
                  <a:tcPr marL="91440" marR="91440" marT="45720" marB="45720">
                    <a:solidFill>
                      <a:srgbClr val="29475B"/>
                    </a:solidFill>
                  </a:tcPr>
                </a:tc>
                <a:tc>
                  <a:txBody>
                    <a:bodyPr/>
                    <a:lstStyle/>
                    <a:p>
                      <a:r>
                        <a:rPr sz="1650" b="1">
                          <a:solidFill>
                            <a:srgbClr val="FAF8F2"/>
                          </a:solidFill>
                          <a:latin typeface="DejaVu Sans"/>
                          <a:ea typeface="DejaVu Sans"/>
                          <a:cs typeface="DejaVu Sans"/>
                        </a:rPr>
                        <a:t>HEX</a:t>
                      </a:r>
                    </a:p>
                  </a:txBody>
                  <a:tcPr marL="91440" marR="91440" marT="45720" marB="45720">
                    <a:solidFill>
                      <a:srgbClr val="29475B"/>
                    </a:solidFill>
                  </a:tcPr>
                </a:tc>
                <a:tc>
                  <a:txBody>
                    <a:bodyPr/>
                    <a:lstStyle/>
                    <a:p>
                      <a:r>
                        <a:rPr sz="1650" b="1">
                          <a:solidFill>
                            <a:srgbClr val="FAF8F2"/>
                          </a:solidFill>
                          <a:latin typeface="DejaVu Sans"/>
                          <a:ea typeface="DejaVu Sans"/>
                          <a:cs typeface="DejaVu Sans"/>
                        </a:rPr>
                        <a:t>Role</a:t>
                      </a:r>
                    </a:p>
                  </a:txBody>
                  <a:tcPr marL="91440" marR="91440" marT="45720" marB="45720">
                    <a:solidFill>
                      <a:srgbClr val="29475B"/>
                    </a:solidFill>
                  </a:tcPr>
                </a:tc>
              </a:tr>
              <a:tr h="706438">
                <a:tc>
                  <a:txBody>
                    <a:bodyPr/>
                    <a:lstStyle/>
                    <a:p>
                      <a:r>
                        <a:rPr sz="1650" b="1">
                          <a:solidFill>
                            <a:srgbClr val="29475B"/>
                          </a:solidFill>
                          <a:latin typeface="DejaVu Sans"/>
                          <a:ea typeface="DejaVu Sans"/>
                          <a:cs typeface="DejaVu Sans"/>
                        </a:rPr>
                        <a:t>Warm ivory</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#FAF8F2</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Main canvas and packaging</a:t>
                      </a:r>
                    </a:p>
                  </a:txBody>
                  <a:tcPr marL="91440" marR="91440" marT="45720" marB="45720">
                    <a:solidFill>
                      <a:srgbClr val="FAF8F2"/>
                    </a:solidFill>
                  </a:tcPr>
                </a:tc>
              </a:tr>
              <a:tr h="706438">
                <a:tc>
                  <a:txBody>
                    <a:bodyPr/>
                    <a:lstStyle/>
                    <a:p>
                      <a:r>
                        <a:rPr sz="1650" b="1">
                          <a:solidFill>
                            <a:srgbClr val="FAF8F2"/>
                          </a:solidFill>
                          <a:latin typeface="DejaVu Sans"/>
                          <a:ea typeface="DejaVu Sans"/>
                          <a:cs typeface="DejaVu Sans"/>
                        </a:rPr>
                        <a:t>Vossie navy</a:t>
                      </a:r>
                    </a:p>
                  </a:txBody>
                  <a:tcPr marL="91440" marR="91440" marT="45720" marB="45720">
                    <a:solidFill>
                      <a:srgbClr val="29475B"/>
                    </a:solidFill>
                  </a:tcPr>
                </a:tc>
                <a:tc>
                  <a:txBody>
                    <a:bodyPr/>
                    <a:lstStyle/>
                    <a:p>
                      <a:r>
                        <a:rPr sz="1650" b="0">
                          <a:solidFill>
                            <a:srgbClr val="29475B"/>
                          </a:solidFill>
                          <a:latin typeface="DejaVu Sans"/>
                          <a:ea typeface="DejaVu Sans"/>
                          <a:cs typeface="DejaVu Sans"/>
                        </a:rPr>
                        <a:t>#29475B</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Logo, text and primary actions</a:t>
                      </a:r>
                    </a:p>
                  </a:txBody>
                  <a:tcPr marL="91440" marR="91440" marT="45720" marB="45720">
                    <a:solidFill>
                      <a:srgbClr val="FAF8F2"/>
                    </a:solidFill>
                  </a:tcPr>
                </a:tc>
              </a:tr>
              <a:tr h="706438">
                <a:tc>
                  <a:txBody>
                    <a:bodyPr/>
                    <a:lstStyle/>
                    <a:p>
                      <a:r>
                        <a:rPr sz="1650" b="1">
                          <a:solidFill>
                            <a:srgbClr val="29475B"/>
                          </a:solidFill>
                          <a:latin typeface="DejaVu Sans"/>
                          <a:ea typeface="DejaVu Sans"/>
                          <a:cs typeface="DejaVu Sans"/>
                        </a:rPr>
                        <a:t>Powder blue</a:t>
                      </a:r>
                    </a:p>
                  </a:txBody>
                  <a:tcPr marL="91440" marR="91440" marT="45720" marB="45720">
                    <a:solidFill>
                      <a:srgbClr val="AFCBDE"/>
                    </a:solidFill>
                  </a:tcPr>
                </a:tc>
                <a:tc>
                  <a:txBody>
                    <a:bodyPr/>
                    <a:lstStyle/>
                    <a:p>
                      <a:r>
                        <a:rPr sz="1650" b="0">
                          <a:solidFill>
                            <a:srgbClr val="29475B"/>
                          </a:solidFill>
                          <a:latin typeface="DejaVu Sans"/>
                          <a:ea typeface="DejaVu Sans"/>
                          <a:cs typeface="DejaVu Sans"/>
                        </a:rPr>
                        <a:t>#AFCBDE</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Selected states and soft panels</a:t>
                      </a:r>
                    </a:p>
                  </a:txBody>
                  <a:tcPr marL="91440" marR="91440" marT="45720" marB="45720">
                    <a:solidFill>
                      <a:srgbClr val="FAF8F2"/>
                    </a:solidFill>
                  </a:tcPr>
                </a:tc>
              </a:tr>
              <a:tr h="706438">
                <a:tc>
                  <a:txBody>
                    <a:bodyPr/>
                    <a:lstStyle/>
                    <a:p>
                      <a:r>
                        <a:rPr sz="1650" b="1">
                          <a:solidFill>
                            <a:srgbClr val="FAF8F2"/>
                          </a:solidFill>
                          <a:latin typeface="DejaVu Sans"/>
                          <a:ea typeface="DejaVu Sans"/>
                          <a:cs typeface="DejaVu Sans"/>
                        </a:rPr>
                        <a:t>Slate blue</a:t>
                      </a:r>
                    </a:p>
                  </a:txBody>
                  <a:tcPr marL="91440" marR="91440" marT="45720" marB="45720">
                    <a:solidFill>
                      <a:srgbClr val="567487"/>
                    </a:solidFill>
                  </a:tcPr>
                </a:tc>
                <a:tc>
                  <a:txBody>
                    <a:bodyPr/>
                    <a:lstStyle/>
                    <a:p>
                      <a:r>
                        <a:rPr sz="1650" b="0">
                          <a:solidFill>
                            <a:srgbClr val="29475B"/>
                          </a:solidFill>
                          <a:latin typeface="DejaVu Sans"/>
                          <a:ea typeface="DejaVu Sans"/>
                          <a:cs typeface="DejaVu Sans"/>
                        </a:rPr>
                        <a:t>#567487</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Supporting copy</a:t>
                      </a:r>
                    </a:p>
                  </a:txBody>
                  <a:tcPr marL="91440" marR="91440" marT="45720" marB="45720">
                    <a:solidFill>
                      <a:srgbClr val="FAF8F2"/>
                    </a:solidFill>
                  </a:tcPr>
                </a:tc>
              </a:tr>
              <a:tr h="706438">
                <a:tc>
                  <a:txBody>
                    <a:bodyPr/>
                    <a:lstStyle/>
                    <a:p>
                      <a:r>
                        <a:rPr sz="1650" b="1">
                          <a:solidFill>
                            <a:srgbClr val="29475B"/>
                          </a:solidFill>
                          <a:latin typeface="DejaVu Sans"/>
                          <a:ea typeface="DejaVu Sans"/>
                          <a:cs typeface="DejaVu Sans"/>
                        </a:rPr>
                        <a:t>Pale sage</a:t>
                      </a:r>
                    </a:p>
                  </a:txBody>
                  <a:tcPr marL="91440" marR="91440" marT="45720" marB="45720">
                    <a:solidFill>
                      <a:srgbClr val="DDE5D9"/>
                    </a:solidFill>
                  </a:tcPr>
                </a:tc>
                <a:tc>
                  <a:txBody>
                    <a:bodyPr/>
                    <a:lstStyle/>
                    <a:p>
                      <a:r>
                        <a:rPr sz="1650" b="0">
                          <a:solidFill>
                            <a:srgbClr val="29475B"/>
                          </a:solidFill>
                          <a:latin typeface="DejaVu Sans"/>
                          <a:ea typeface="DejaVu Sans"/>
                          <a:cs typeface="DejaVu Sans"/>
                        </a:rPr>
                        <a:t>#DDE5D9</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Optional quiet accent</a:t>
                      </a:r>
                    </a:p>
                  </a:txBody>
                  <a:tcPr marL="91440" marR="91440" marT="45720" marB="45720">
                    <a:solidFill>
                      <a:srgbClr val="FAF8F2"/>
                    </a:solidFill>
                  </a:tcPr>
                </a:tc>
              </a:tr>
            </a:tbl>
          </a:graphicData>
        </a:graphic>
      </p:graphicFrame>
      <p:sp>
        <p:nvSpPr>
          <p:cNvPr id="4" name="">
            <a:extLst xmlns:a="http://schemas.openxmlformats.org/drawingml/2006/main">
              <a:ext uri="{FF2B5EF4-FFF2-40B4-BE49-F238E27FC236}">
                <a16:creationId xmlns:a16="http://schemas.microsoft.com/office/drawing/2014/main" id="{566BA3BC-3E7E-402B-A59F-E544982631CA}"/>
              </a:ext>
            </a:extLst>
          </p:cNvPr>
          <p:cNvSpPr>
            <a:spLocks xmlns:a="http://schemas.openxmlformats.org/drawingml/2006/main" noGrp="1"/>
          </p:cNvSpPr>
          <p:nvPr/>
        </p:nvSpPr>
        <p:spPr>
          <a:xfrm xmlns:a="http://schemas.openxmlformats.org/drawingml/2006/main">
            <a:off x="609600" y="590550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7487"/>
                </a:solidFill>
                <a:latin typeface="DejaVu Sans"/>
                <a:ea typeface="DejaVu Sans"/>
                <a:cs typeface="DejaVu Sans"/>
              </a:defRPr>
            </a:pPr>
            <a:r>
              <a:rPr sz="1350" b="0">
                <a:solidFill>
                  <a:srgbClr val="567487"/>
                </a:solidFill>
                <a:latin typeface="DejaVu Sans"/>
                <a:ea typeface="DejaVu Sans"/>
                <a:cs typeface="DejaVu Sans"/>
              </a:rPr>
              <a:t>A Vossie palette inspired by the requested softer direction; these are not official Eduvos colour specifications.</a:t>
            </a:r>
          </a:p>
        </p:txBody>
      </p:sp>
    </p:spTree>
    <p:extLst>
      <p:ext uri="{BB962C8B-B14F-4D97-AF65-F5344CB8AC3E}">
        <p14:creationId xmlns:p14="http://schemas.microsoft.com/office/powerpoint/2010/main" val="216515316"/>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D3A689-9487-4677-9B74-F49403B4814C}"/>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07</a:t>
            </a:r>
          </a:p>
        </p:txBody>
      </p:sp>
      <p:sp>
        <p:nvSpPr>
          <p:cNvPr id="2" name="">
            <a:extLst xmlns:a="http://schemas.openxmlformats.org/drawingml/2006/main">
              <a:ext uri="{FF2B5EF4-FFF2-40B4-BE49-F238E27FC236}">
                <a16:creationId xmlns:a16="http://schemas.microsoft.com/office/drawing/2014/main" id="{E6F5D18F-959B-4FCC-AAF4-AF750EA6F064}"/>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Colour in use</a:t>
            </a:r>
          </a:p>
        </p:txBody>
      </p:sp>
      <p:sp>
        <p:nvSpPr>
          <p:cNvPr id="3" name="">
            <a:extLst xmlns:a="http://schemas.openxmlformats.org/drawingml/2006/main">
              <a:ext uri="{FF2B5EF4-FFF2-40B4-BE49-F238E27FC236}">
                <a16:creationId xmlns:a16="http://schemas.microsoft.com/office/drawing/2014/main" id="{8C0DB3F2-8B8C-4348-9D5B-32FE4FBFE4F5}"/>
              </a:ext>
            </a:extLst>
          </p:cNvPr>
          <p:cNvSpPr>
            <a:spLocks xmlns:a="http://schemas.openxmlformats.org/drawingml/2006/main" noGrp="1"/>
          </p:cNvSpPr>
          <p:nvPr/>
        </p:nvSpPr>
        <p:spPr>
          <a:xfrm xmlns:a="http://schemas.openxmlformats.org/drawingml/2006/main">
            <a:off x="609600" y="1590675"/>
            <a:ext cx="6858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29475B"/>
                </a:solidFill>
                <a:latin typeface="DejaVu Sans"/>
                <a:ea typeface="DejaVu Sans"/>
                <a:cs typeface="DejaVu Sans"/>
              </a:defRPr>
            </a:pPr>
            <a:r>
              <a:rPr sz="3900" b="1">
                <a:solidFill>
                  <a:srgbClr val="29475B"/>
                </a:solidFill>
                <a:latin typeface="DejaVu Sans"/>
                <a:ea typeface="DejaVu Sans"/>
                <a:cs typeface="DejaVu Sans"/>
              </a:rPr>
              <a:t>Ivory leads.</a:t>
            </a:r>
          </a:p>
          <a:p xmlns:a="http://schemas.openxmlformats.org/drawingml/2006/main">
            <a:pPr>
              <a:defRPr sz="3900" b="1">
                <a:solidFill>
                  <a:srgbClr val="29475B"/>
                </a:solidFill>
                <a:latin typeface="DejaVu Sans"/>
                <a:ea typeface="DejaVu Sans"/>
                <a:cs typeface="DejaVu Sans"/>
              </a:defRPr>
            </a:pPr>
            <a:r>
              <a:rPr sz="3900" b="1">
                <a:solidFill>
                  <a:srgbClr val="29475B"/>
                </a:solidFill>
                <a:latin typeface="DejaVu Sans"/>
                <a:ea typeface="DejaVu Sans"/>
                <a:cs typeface="DejaVu Sans"/>
              </a:rPr>
              <a:t>Navy gives clarity.</a:t>
            </a:r>
          </a:p>
          <a:p xmlns:a="http://schemas.openxmlformats.org/drawingml/2006/main">
            <a:pPr>
              <a:defRPr sz="3900" b="1">
                <a:solidFill>
                  <a:srgbClr val="29475B"/>
                </a:solidFill>
                <a:latin typeface="DejaVu Sans"/>
                <a:ea typeface="DejaVu Sans"/>
                <a:cs typeface="DejaVu Sans"/>
              </a:defRPr>
            </a:pPr>
            <a:r>
              <a:rPr sz="3900" b="1">
                <a:solidFill>
                  <a:srgbClr val="29475B"/>
                </a:solidFill>
                <a:latin typeface="DejaVu Sans"/>
                <a:ea typeface="DejaVu Sans"/>
                <a:cs typeface="DejaVu Sans"/>
              </a:rPr>
              <a:t>Blue adds emphasis.</a:t>
            </a:r>
          </a:p>
        </p:txBody>
      </p:sp>
      <p:sp>
        <p:nvSpPr>
          <p:cNvPr id="4" name="">
            <a:extLst xmlns:a="http://schemas.openxmlformats.org/drawingml/2006/main">
              <a:ext uri="{FF2B5EF4-FFF2-40B4-BE49-F238E27FC236}">
                <a16:creationId xmlns:a16="http://schemas.microsoft.com/office/drawing/2014/main" id="{F98C7F29-9E45-4BFB-81CC-1311CB770D32}"/>
              </a:ext>
            </a:extLst>
          </p:cNvPr>
          <p:cNvSpPr>
            <a:spLocks xmlns:a="http://schemas.openxmlformats.org/drawingml/2006/main" noGrp="1"/>
          </p:cNvSpPr>
          <p:nvPr/>
        </p:nvSpPr>
        <p:spPr>
          <a:xfrm xmlns:a="http://schemas.openxmlformats.org/drawingml/2006/main">
            <a:off x="8048625" y="1924050"/>
            <a:ext cx="3333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475B"/>
                </a:solidFill>
                <a:latin typeface="DejaVu Sans"/>
                <a:ea typeface="DejaVu Sans"/>
                <a:cs typeface="DejaVu Sans"/>
              </a:defRPr>
            </a:pPr>
            <a:r>
              <a:rPr sz="1875" b="0">
                <a:solidFill>
                  <a:srgbClr val="29475B"/>
                </a:solidFill>
                <a:latin typeface="DejaVu Sans"/>
                <a:ea typeface="DejaVu Sans"/>
                <a:cs typeface="DejaVu Sans"/>
              </a:rPr>
              <a:t>Use navy for reading and actions.</a:t>
            </a:r>
          </a:p>
          <a:p xmlns:a="http://schemas.openxmlformats.org/drawingml/2006/main">
            <a:r>
              <a:t/>
            </a:r>
          </a:p>
          <a:p xmlns:a="http://schemas.openxmlformats.org/drawingml/2006/main">
            <a:pPr>
              <a:defRPr sz="1875" b="0">
                <a:solidFill>
                  <a:srgbClr val="29475B"/>
                </a:solidFill>
                <a:latin typeface="DejaVu Sans"/>
                <a:ea typeface="DejaVu Sans"/>
                <a:cs typeface="DejaVu Sans"/>
              </a:defRPr>
            </a:pPr>
            <a:r>
              <a:rPr sz="1875" b="0">
                <a:solidFill>
                  <a:srgbClr val="29475B"/>
                </a:solidFill>
                <a:latin typeface="DejaVu Sans"/>
                <a:ea typeface="DejaVu Sans"/>
                <a:cs typeface="DejaVu Sans"/>
              </a:rPr>
              <a:t>Keep powder blue as a surface colour.</a:t>
            </a:r>
          </a:p>
          <a:p xmlns:a="http://schemas.openxmlformats.org/drawingml/2006/main">
            <a:r>
              <a:t/>
            </a:r>
          </a:p>
          <a:p xmlns:a="http://schemas.openxmlformats.org/drawingml/2006/main">
            <a:pPr>
              <a:defRPr sz="1875" b="0">
                <a:solidFill>
                  <a:srgbClr val="29475B"/>
                </a:solidFill>
                <a:latin typeface="DejaVu Sans"/>
                <a:ea typeface="DejaVu Sans"/>
                <a:cs typeface="DejaVu Sans"/>
              </a:defRPr>
            </a:pPr>
            <a:r>
              <a:rPr sz="1875" b="0">
                <a:solidFill>
                  <a:srgbClr val="29475B"/>
                </a:solidFill>
                <a:latin typeface="DejaVu Sans"/>
                <a:ea typeface="DejaVu Sans"/>
                <a:cs typeface="DejaVu Sans"/>
              </a:rPr>
              <a:t>Pair every status colour with a label.</a:t>
            </a:r>
          </a:p>
        </p:txBody>
      </p:sp>
      <p:sp>
        <p:nvSpPr>
          <p:cNvPr id="5" name="">
            <a:extLst xmlns:a="http://schemas.openxmlformats.org/drawingml/2006/main">
              <a:ext uri="{FF2B5EF4-FFF2-40B4-BE49-F238E27FC236}">
                <a16:creationId xmlns:a16="http://schemas.microsoft.com/office/drawing/2014/main" id="{5E0A8F0E-AA21-494A-97C3-E5EBAE0FB1FC}"/>
              </a:ext>
            </a:extLst>
          </p:cNvPr>
          <p:cNvSpPr>
            <a:spLocks xmlns:a="http://schemas.openxmlformats.org/drawingml/2006/main" noGrp="1"/>
          </p:cNvSpPr>
          <p:nvPr/>
        </p:nvSpPr>
        <p:spPr>
          <a:xfrm xmlns:a="http://schemas.openxmlformats.org/drawingml/2006/main">
            <a:off x="609600" y="5295900"/>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9475B"/>
                </a:solidFill>
                <a:latin typeface="DejaVu Sans"/>
                <a:ea typeface="DejaVu Sans"/>
                <a:cs typeface="DejaVu Sans"/>
              </a:defRPr>
            </a:pPr>
            <a:r>
              <a:rPr sz="2100" b="0">
                <a:solidFill>
                  <a:srgbClr val="29475B"/>
                </a:solidFill>
                <a:latin typeface="DejaVu Sans"/>
                <a:ea typeface="DejaVu Sans"/>
                <a:cs typeface="DejaVu Sans"/>
              </a:rPr>
              <a:t>The soft palette should still produce a clear interface at small sizes.</a:t>
            </a:r>
          </a:p>
        </p:txBody>
      </p:sp>
    </p:spTree>
    <p:extLst>
      <p:ext uri="{BB962C8B-B14F-4D97-AF65-F5344CB8AC3E}">
        <p14:creationId xmlns:p14="http://schemas.microsoft.com/office/powerpoint/2010/main" val="486634894"/>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CF658F-3B04-4934-8CFB-48F5537AA80F}"/>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08</a:t>
            </a:r>
          </a:p>
        </p:txBody>
      </p:sp>
      <p:sp>
        <p:nvSpPr>
          <p:cNvPr id="2" name="">
            <a:extLst xmlns:a="http://schemas.openxmlformats.org/drawingml/2006/main">
              <a:ext uri="{FF2B5EF4-FFF2-40B4-BE49-F238E27FC236}">
                <a16:creationId xmlns:a16="http://schemas.microsoft.com/office/drawing/2014/main" id="{D20C99C5-FB0C-498A-A09D-0848D7F89EF8}"/>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Typography</a:t>
            </a:r>
          </a:p>
        </p:txBody>
      </p:sp>
      <p:sp>
        <p:nvSpPr>
          <p:cNvPr id="3" name="">
            <a:extLst xmlns:a="http://schemas.openxmlformats.org/drawingml/2006/main">
              <a:ext uri="{FF2B5EF4-FFF2-40B4-BE49-F238E27FC236}">
                <a16:creationId xmlns:a16="http://schemas.microsoft.com/office/drawing/2014/main" id="{39002512-9592-4F79-A321-09FFF336A410}"/>
              </a:ext>
            </a:extLst>
          </p:cNvPr>
          <p:cNvSpPr>
            <a:spLocks xmlns:a="http://schemas.openxmlformats.org/drawingml/2006/main" noGrp="1"/>
          </p:cNvSpPr>
          <p:nvPr/>
        </p:nvSpPr>
        <p:spPr>
          <a:xfrm xmlns:a="http://schemas.openxmlformats.org/drawingml/2006/main">
            <a:off x="609600" y="1476375"/>
            <a:ext cx="314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900" b="1">
                <a:solidFill>
                  <a:srgbClr val="29475B"/>
                </a:solidFill>
                <a:latin typeface="DejaVu Sans"/>
                <a:ea typeface="DejaVu Sans"/>
                <a:cs typeface="DejaVu Sans"/>
              </a:defRPr>
            </a:pPr>
            <a:r>
              <a:rPr sz="9900" b="1">
                <a:solidFill>
                  <a:srgbClr val="29475B"/>
                </a:solidFill>
                <a:latin typeface="DejaVu Sans"/>
                <a:ea typeface="DejaVu Sans"/>
                <a:cs typeface="DejaVu Sans"/>
              </a:rPr>
              <a:t>Aa</a:t>
            </a:r>
          </a:p>
        </p:txBody>
      </p:sp>
      <p:sp>
        <p:nvSpPr>
          <p:cNvPr id="4" name="">
            <a:extLst xmlns:a="http://schemas.openxmlformats.org/drawingml/2006/main">
              <a:ext uri="{FF2B5EF4-FFF2-40B4-BE49-F238E27FC236}">
                <a16:creationId xmlns:a16="http://schemas.microsoft.com/office/drawing/2014/main" id="{2BF154C5-5315-461C-9312-05248ACD0E9A}"/>
              </a:ext>
            </a:extLst>
          </p:cNvPr>
          <p:cNvSpPr>
            <a:spLocks xmlns:a="http://schemas.openxmlformats.org/drawingml/2006/main" noGrp="1"/>
          </p:cNvSpPr>
          <p:nvPr/>
        </p:nvSpPr>
        <p:spPr>
          <a:xfrm xmlns:a="http://schemas.openxmlformats.org/drawingml/2006/main">
            <a:off x="4429125" y="1685925"/>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475B"/>
                </a:solidFill>
                <a:latin typeface="DejaVu Sans"/>
                <a:ea typeface="DejaVu Sans"/>
                <a:cs typeface="DejaVu Sans"/>
              </a:defRPr>
            </a:pPr>
            <a:r>
              <a:rPr sz="3150" b="1">
                <a:solidFill>
                  <a:srgbClr val="29475B"/>
                </a:solidFill>
                <a:latin typeface="DejaVu Sans"/>
                <a:ea typeface="DejaVu Sans"/>
                <a:cs typeface="DejaVu Sans"/>
              </a:rPr>
              <a:t>DejaVu Sans</a:t>
            </a:r>
          </a:p>
        </p:txBody>
      </p:sp>
      <p:sp>
        <p:nvSpPr>
          <p:cNvPr id="5" name="">
            <a:extLst xmlns:a="http://schemas.openxmlformats.org/drawingml/2006/main">
              <a:ext uri="{FF2B5EF4-FFF2-40B4-BE49-F238E27FC236}">
                <a16:creationId xmlns:a16="http://schemas.microsoft.com/office/drawing/2014/main" id="{77BD43FE-A3DB-4415-B06C-077B766C7F79}"/>
              </a:ext>
            </a:extLst>
          </p:cNvPr>
          <p:cNvSpPr>
            <a:spLocks xmlns:a="http://schemas.openxmlformats.org/drawingml/2006/main" noGrp="1"/>
          </p:cNvSpPr>
          <p:nvPr/>
        </p:nvSpPr>
        <p:spPr>
          <a:xfrm xmlns:a="http://schemas.openxmlformats.org/drawingml/2006/main">
            <a:off x="4429125" y="2524125"/>
            <a:ext cx="666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9475B"/>
                </a:solidFill>
                <a:latin typeface="DejaVu Sans"/>
                <a:ea typeface="DejaVu Sans"/>
                <a:cs typeface="DejaVu Sans"/>
              </a:defRPr>
            </a:pPr>
            <a:r>
              <a:rPr sz="1950" b="0">
                <a:solidFill>
                  <a:srgbClr val="29475B"/>
                </a:solidFill>
                <a:latin typeface="DejaVu Sans"/>
                <a:ea typeface="DejaVu Sans"/>
                <a:cs typeface="DejaVu Sans"/>
              </a:rPr>
              <a:t>A clear supporting typeface for this presentation and the proposed interface system.</a:t>
            </a:r>
          </a:p>
        </p:txBody>
      </p:sp>
      <p:sp>
        <p:nvSpPr>
          <p:cNvPr id="6" name="">
            <a:extLst xmlns:a="http://schemas.openxmlformats.org/drawingml/2006/main">
              <a:ext uri="{FF2B5EF4-FFF2-40B4-BE49-F238E27FC236}">
                <a16:creationId xmlns:a16="http://schemas.microsoft.com/office/drawing/2014/main" id="{2D0778C7-C532-4520-B11E-07699D568929}"/>
              </a:ext>
            </a:extLst>
          </p:cNvPr>
          <p:cNvSpPr>
            <a:spLocks xmlns:a="http://schemas.openxmlformats.org/drawingml/2006/main" noGrp="1"/>
          </p:cNvSpPr>
          <p:nvPr/>
        </p:nvSpPr>
        <p:spPr>
          <a:xfrm xmlns:a="http://schemas.openxmlformats.org/drawingml/2006/main">
            <a:off x="609600" y="3829050"/>
            <a:ext cx="5953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9475B"/>
                </a:solidFill>
                <a:latin typeface="DejaVu Sans"/>
                <a:ea typeface="DejaVu Sans"/>
                <a:cs typeface="DejaVu Sans"/>
              </a:defRPr>
            </a:pPr>
            <a:r>
              <a:rPr sz="1950" b="0">
                <a:solidFill>
                  <a:srgbClr val="29475B"/>
                </a:solidFill>
                <a:latin typeface="DejaVu Sans"/>
                <a:ea typeface="DejaVu Sans"/>
                <a:cs typeface="DejaVu Sans"/>
              </a:rPr>
              <a:t>Headings  /  Bold</a:t>
            </a:r>
          </a:p>
          <a:p xmlns:a="http://schemas.openxmlformats.org/drawingml/2006/main">
            <a:pPr>
              <a:defRPr sz="1950" b="0">
                <a:solidFill>
                  <a:srgbClr val="29475B"/>
                </a:solidFill>
                <a:latin typeface="DejaVu Sans"/>
                <a:ea typeface="DejaVu Sans"/>
                <a:cs typeface="DejaVu Sans"/>
              </a:defRPr>
            </a:pPr>
            <a:r>
              <a:rPr sz="1950" b="0">
                <a:solidFill>
                  <a:srgbClr val="29475B"/>
                </a:solidFill>
                <a:latin typeface="DejaVu Sans"/>
                <a:ea typeface="DejaVu Sans"/>
                <a:cs typeface="DejaVu Sans"/>
              </a:rPr>
              <a:t>Body copy  /  Regular</a:t>
            </a:r>
          </a:p>
          <a:p xmlns:a="http://schemas.openxmlformats.org/drawingml/2006/main">
            <a:pPr>
              <a:defRPr sz="1950" b="0">
                <a:solidFill>
                  <a:srgbClr val="29475B"/>
                </a:solidFill>
                <a:latin typeface="DejaVu Sans"/>
                <a:ea typeface="DejaVu Sans"/>
                <a:cs typeface="DejaVu Sans"/>
              </a:defRPr>
            </a:pPr>
            <a:r>
              <a:rPr sz="1950" b="0">
                <a:solidFill>
                  <a:srgbClr val="29475B"/>
                </a:solidFill>
                <a:latin typeface="DejaVu Sans"/>
                <a:ea typeface="DejaVu Sans"/>
                <a:cs typeface="DejaVu Sans"/>
              </a:rPr>
              <a:t>Prices and status  /  Bold emphasis</a:t>
            </a:r>
          </a:p>
        </p:txBody>
      </p:sp>
      <p:sp>
        <p:nvSpPr>
          <p:cNvPr id="7" name="">
            <a:extLst xmlns:a="http://schemas.openxmlformats.org/drawingml/2006/main">
              <a:ext uri="{FF2B5EF4-FFF2-40B4-BE49-F238E27FC236}">
                <a16:creationId xmlns:a16="http://schemas.microsoft.com/office/drawing/2014/main" id="{80B74400-8653-4438-B883-3E538C4C435E}"/>
              </a:ext>
            </a:extLst>
          </p:cNvPr>
          <p:cNvSpPr>
            <a:spLocks xmlns:a="http://schemas.openxmlformats.org/drawingml/2006/main" noGrp="1"/>
          </p:cNvSpPr>
          <p:nvPr/>
        </p:nvSpPr>
        <p:spPr>
          <a:xfrm xmlns:a="http://schemas.openxmlformats.org/drawingml/2006/main">
            <a:off x="7286625" y="3943350"/>
            <a:ext cx="419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9475B"/>
                </a:solidFill>
                <a:latin typeface="DejaVu Sans"/>
                <a:ea typeface="DejaVu Sans"/>
                <a:cs typeface="DejaVu Sans"/>
              </a:defRPr>
            </a:pPr>
            <a:r>
              <a:rPr sz="1950" b="0">
                <a:solidFill>
                  <a:srgbClr val="29475B"/>
                </a:solidFill>
                <a:latin typeface="DejaVu Sans"/>
                <a:ea typeface="DejaVu Sans"/>
                <a:cs typeface="DejaVu Sans"/>
              </a:rPr>
              <a:t>The logo is custom artwork.</a:t>
            </a:r>
          </a:p>
          <a:p xmlns:a="http://schemas.openxmlformats.org/drawingml/2006/main">
            <a:pPr>
              <a:defRPr sz="1950" b="0">
                <a:solidFill>
                  <a:srgbClr val="29475B"/>
                </a:solidFill>
                <a:latin typeface="DejaVu Sans"/>
                <a:ea typeface="DejaVu Sans"/>
                <a:cs typeface="DejaVu Sans"/>
              </a:defRPr>
            </a:pPr>
            <a:r>
              <a:rPr sz="1950" b="0">
                <a:solidFill>
                  <a:srgbClr val="29475B"/>
                </a:solidFill>
                <a:latin typeface="DejaVu Sans"/>
                <a:ea typeface="DejaVu Sans"/>
                <a:cs typeface="DejaVu Sans"/>
              </a:rPr>
              <a:t>Do not recreate it by typing</a:t>
            </a:r>
          </a:p>
          <a:p xmlns:a="http://schemas.openxmlformats.org/drawingml/2006/main">
            <a:pPr>
              <a:defRPr sz="1950" b="0">
                <a:solidFill>
                  <a:srgbClr val="29475B"/>
                </a:solidFill>
                <a:latin typeface="DejaVu Sans"/>
                <a:ea typeface="DejaVu Sans"/>
                <a:cs typeface="DejaVu Sans"/>
              </a:defRPr>
            </a:pPr>
            <a:r>
              <a:rPr sz="1950" b="0">
                <a:solidFill>
                  <a:srgbClr val="29475B"/>
                </a:solidFill>
                <a:latin typeface="DejaVu Sans"/>
                <a:ea typeface="DejaVu Sans"/>
                <a:cs typeface="DejaVu Sans"/>
              </a:rPr>
              <a:t>the brand name in a font.</a:t>
            </a:r>
          </a:p>
        </p:txBody>
      </p:sp>
    </p:spTree>
    <p:extLst>
      <p:ext uri="{BB962C8B-B14F-4D97-AF65-F5344CB8AC3E}">
        <p14:creationId xmlns:p14="http://schemas.microsoft.com/office/powerpoint/2010/main" val="1791574005"/>
      </p:ext>
    </p:extLst>
  </p:cSld>
</p:sld>
</file>

<file path=ppt/slides/slide9.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C4CF33-B88B-4109-9599-6EC236126021}"/>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09</a:t>
            </a:r>
          </a:p>
        </p:txBody>
      </p:sp>
      <p:sp>
        <p:nvSpPr>
          <p:cNvPr id="2" name="">
            <a:extLst xmlns:a="http://schemas.openxmlformats.org/drawingml/2006/main">
              <a:ext uri="{FF2B5EF4-FFF2-40B4-BE49-F238E27FC236}">
                <a16:creationId xmlns:a16="http://schemas.microsoft.com/office/drawing/2014/main" id="{0134FF2B-8A35-4B18-940A-DEE5B3CE3916}"/>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Logo rules</a:t>
            </a:r>
          </a:p>
        </p:txBody>
      </p:sp>
      <p:sp>
        <p:nvSpPr>
          <p:cNvPr id="3" name="">
            <a:extLst xmlns:a="http://schemas.openxmlformats.org/drawingml/2006/main">
              <a:ext uri="{FF2B5EF4-FFF2-40B4-BE49-F238E27FC236}">
                <a16:creationId xmlns:a16="http://schemas.microsoft.com/office/drawing/2014/main" id="{DCE710A8-7505-4FF4-BDA8-50B0C85D1B27}"/>
              </a:ext>
            </a:extLst>
          </p:cNvPr>
          <p:cNvSpPr>
            <a:spLocks xmlns:a="http://schemas.openxmlformats.org/drawingml/2006/main" noGrp="1"/>
          </p:cNvSpPr>
          <p:nvPr/>
        </p:nvSpPr>
        <p:spPr>
          <a:xfrm xmlns:a="http://schemas.openxmlformats.org/drawingml/2006/main">
            <a:off x="609600" y="159067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9475B"/>
                </a:solidFill>
                <a:latin typeface="DejaVu Sans"/>
                <a:ea typeface="DejaVu Sans"/>
                <a:cs typeface="DejaVu Sans"/>
              </a:defRPr>
            </a:pPr>
            <a:r>
              <a:rPr sz="2100" b="1">
                <a:solidFill>
                  <a:srgbClr val="29475B"/>
                </a:solidFill>
                <a:latin typeface="DejaVu Sans"/>
                <a:ea typeface="DejaVu Sans"/>
                <a:cs typeface="DejaVu Sans"/>
              </a:rPr>
              <a:t>Space and scale</a:t>
            </a:r>
          </a:p>
        </p:txBody>
      </p:sp>
      <p:sp>
        <p:nvSpPr>
          <p:cNvPr id="4" name="">
            <a:extLst xmlns:a="http://schemas.openxmlformats.org/drawingml/2006/main">
              <a:ext uri="{FF2B5EF4-FFF2-40B4-BE49-F238E27FC236}">
                <a16:creationId xmlns:a16="http://schemas.microsoft.com/office/drawing/2014/main" id="{82078C38-F329-490B-B6AB-5AA8FE617917}"/>
              </a:ext>
            </a:extLst>
          </p:cNvPr>
          <p:cNvSpPr>
            <a:spLocks xmlns:a="http://schemas.openxmlformats.org/drawingml/2006/main" noGrp="1"/>
          </p:cNvSpPr>
          <p:nvPr/>
        </p:nvSpPr>
        <p:spPr>
          <a:xfrm xmlns:a="http://schemas.openxmlformats.org/drawingml/2006/main">
            <a:off x="609600" y="2162175"/>
            <a:ext cx="5048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475B"/>
                </a:solidFill>
                <a:latin typeface="DejaVu Sans"/>
                <a:ea typeface="DejaVu Sans"/>
                <a:cs typeface="DejaVu Sans"/>
              </a:defRPr>
            </a:pPr>
            <a:r>
              <a:rPr sz="1800" b="0">
                <a:solidFill>
                  <a:srgbClr val="29475B"/>
                </a:solidFill>
                <a:latin typeface="DejaVu Sans"/>
                <a:ea typeface="DejaVu Sans"/>
                <a:cs typeface="DejaVu Sans"/>
              </a:rPr>
              <a:t>Leave at least one “o” height of clear space around the full wordmark. Use the icon when the descriptor becomes too small to read.</a:t>
            </a:r>
          </a:p>
        </p:txBody>
      </p:sp>
      <p:sp>
        <p:nvSpPr>
          <p:cNvPr id="5" name="">
            <a:extLst xmlns:a="http://schemas.openxmlformats.org/drawingml/2006/main">
              <a:ext uri="{FF2B5EF4-FFF2-40B4-BE49-F238E27FC236}">
                <a16:creationId xmlns:a16="http://schemas.microsoft.com/office/drawing/2014/main" id="{CB65D0DB-27CB-4986-A5FD-4698E577F8A9}"/>
              </a:ext>
            </a:extLst>
          </p:cNvPr>
          <p:cNvSpPr>
            <a:spLocks xmlns:a="http://schemas.openxmlformats.org/drawingml/2006/main" noGrp="1"/>
          </p:cNvSpPr>
          <p:nvPr/>
        </p:nvSpPr>
        <p:spPr>
          <a:xfrm xmlns:a="http://schemas.openxmlformats.org/drawingml/2006/main">
            <a:off x="6381750" y="159067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9475B"/>
                </a:solidFill>
                <a:latin typeface="DejaVu Sans"/>
                <a:ea typeface="DejaVu Sans"/>
                <a:cs typeface="DejaVu Sans"/>
              </a:defRPr>
            </a:pPr>
            <a:r>
              <a:rPr sz="2100" b="1">
                <a:solidFill>
                  <a:srgbClr val="29475B"/>
                </a:solidFill>
                <a:latin typeface="DejaVu Sans"/>
                <a:ea typeface="DejaVu Sans"/>
                <a:cs typeface="DejaVu Sans"/>
              </a:rPr>
              <a:t>Consistent artwork</a:t>
            </a:r>
          </a:p>
        </p:txBody>
      </p:sp>
      <p:sp>
        <p:nvSpPr>
          <p:cNvPr id="6" name="">
            <a:extLst xmlns:a="http://schemas.openxmlformats.org/drawingml/2006/main">
              <a:ext uri="{FF2B5EF4-FFF2-40B4-BE49-F238E27FC236}">
                <a16:creationId xmlns:a16="http://schemas.microsoft.com/office/drawing/2014/main" id="{3147B3AA-689E-4C4F-9A49-D14CB155B9FE}"/>
              </a:ext>
            </a:extLst>
          </p:cNvPr>
          <p:cNvSpPr>
            <a:spLocks xmlns:a="http://schemas.openxmlformats.org/drawingml/2006/main" noGrp="1"/>
          </p:cNvSpPr>
          <p:nvPr/>
        </p:nvSpPr>
        <p:spPr>
          <a:xfrm xmlns:a="http://schemas.openxmlformats.org/drawingml/2006/main">
            <a:off x="6381750" y="2162175"/>
            <a:ext cx="5048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475B"/>
                </a:solidFill>
                <a:latin typeface="DejaVu Sans"/>
                <a:ea typeface="DejaVu Sans"/>
                <a:cs typeface="DejaVu Sans"/>
              </a:defRPr>
            </a:pPr>
            <a:r>
              <a:rPr sz="1800" b="0">
                <a:solidFill>
                  <a:srgbClr val="29475B"/>
                </a:solidFill>
                <a:latin typeface="DejaVu Sans"/>
                <a:ea typeface="DejaVu Sans"/>
                <a:cs typeface="DejaVu Sans"/>
              </a:rPr>
              <a:t>Keep the joined letters intact. Avoid stretching, extra effects, busy backgrounds or new monograms.</a:t>
            </a:r>
          </a:p>
        </p:txBody>
      </p:sp>
      <p:sp>
        <p:nvSpPr>
          <p:cNvPr id="7" name="">
            <a:extLst xmlns:a="http://schemas.openxmlformats.org/drawingml/2006/main">
              <a:ext uri="{FF2B5EF4-FFF2-40B4-BE49-F238E27FC236}">
                <a16:creationId xmlns:a16="http://schemas.microsoft.com/office/drawing/2014/main" id="{5436E587-6581-4EB4-8A1F-F1B33BB04712}"/>
              </a:ext>
            </a:extLst>
          </p:cNvPr>
          <p:cNvSpPr>
            <a:spLocks xmlns:a="http://schemas.openxmlformats.org/drawingml/2006/main" noGrp="1"/>
          </p:cNvSpPr>
          <p:nvPr/>
        </p:nvSpPr>
        <p:spPr>
          <a:xfrm xmlns:a="http://schemas.openxmlformats.org/drawingml/2006/main">
            <a:off x="609600" y="4810125"/>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9475B"/>
                </a:solidFill>
                <a:latin typeface="DejaVu Sans"/>
                <a:ea typeface="DejaVu Sans"/>
                <a:cs typeface="DejaVu Sans"/>
              </a:defRPr>
            </a:pPr>
            <a:r>
              <a:rPr sz="2025" b="0">
                <a:solidFill>
                  <a:srgbClr val="29475B"/>
                </a:solidFill>
                <a:latin typeface="DejaVu Sans"/>
                <a:ea typeface="DejaVu Sans"/>
                <a:cs typeface="DejaVu Sans"/>
              </a:rPr>
              <a:t>Proposed starting sizes: full lockup 180 px digital / 35 mm print. Icon 32 px. Review proofs at actual size.</a:t>
            </a:r>
          </a:p>
        </p:txBody>
      </p:sp>
    </p:spTree>
    <p:extLst>
      <p:ext uri="{BB962C8B-B14F-4D97-AF65-F5344CB8AC3E}">
        <p14:creationId xmlns:p14="http://schemas.microsoft.com/office/powerpoint/2010/main" val="1043218579"/>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899E90-EE3D-4BD8-8589-24747A4A162A}"/>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10</a:t>
            </a:r>
          </a:p>
        </p:txBody>
      </p:sp>
      <p:sp>
        <p:nvSpPr>
          <p:cNvPr id="2" name="">
            <a:extLst xmlns:a="http://schemas.openxmlformats.org/drawingml/2006/main">
              <a:ext uri="{FF2B5EF4-FFF2-40B4-BE49-F238E27FC236}">
                <a16:creationId xmlns:a16="http://schemas.microsoft.com/office/drawing/2014/main" id="{CCFF0C63-0AF4-4F3A-93EB-ACC5DB8EDA30}"/>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The voice</a:t>
            </a:r>
          </a:p>
        </p:txBody>
      </p:sp>
      <p:sp>
        <p:nvSpPr>
          <p:cNvPr id="3" name="">
            <a:extLst xmlns:a="http://schemas.openxmlformats.org/drawingml/2006/main">
              <a:ext uri="{FF2B5EF4-FFF2-40B4-BE49-F238E27FC236}">
                <a16:creationId xmlns:a16="http://schemas.microsoft.com/office/drawing/2014/main" id="{D8116B63-7CD4-4C0E-B6AC-8B4E6D45E6E2}"/>
              </a:ext>
            </a:extLst>
          </p:cNvPr>
          <p:cNvSpPr>
            <a:spLocks xmlns:a="http://schemas.openxmlformats.org/drawingml/2006/main" noGrp="1"/>
          </p:cNvSpPr>
          <p:nvPr/>
        </p:nvSpPr>
        <p:spPr>
          <a:xfrm xmlns:a="http://schemas.openxmlformats.org/drawingml/2006/main">
            <a:off x="609600" y="14097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9475B"/>
                </a:solidFill>
                <a:latin typeface="DejaVu Sans"/>
                <a:ea typeface="DejaVu Sans"/>
                <a:cs typeface="DejaVu Sans"/>
              </a:defRPr>
            </a:pPr>
            <a:r>
              <a:rPr sz="2850" b="1">
                <a:solidFill>
                  <a:srgbClr val="29475B"/>
                </a:solidFill>
                <a:latin typeface="DejaVu Sans"/>
                <a:ea typeface="DejaVu Sans"/>
                <a:cs typeface="DejaVu Sans"/>
              </a:rPr>
              <a:t>Friendly, direct and useful</a:t>
            </a:r>
          </a:p>
        </p:txBody>
      </p:sp>
      <p:graphicFrame>
        <p:nvGraphicFramePr>
          <p:cNvPr id="8" name=""/>
          <p:cNvGraphicFramePr/>
          <p:nvPr/>
        </p:nvGraphicFramePr>
        <p:xfrm>
          <a:off xmlns:a="http://schemas.openxmlformats.org/drawingml/2006/main" x="609600" y="2333625"/>
          <a:ext xmlns:a="http://schemas.openxmlformats.org/drawingml/2006/main" cx="10972800" cy="3190875"/>
        </p:xfrm>
        <a:graphic xmlns:a="http://schemas.openxmlformats.org/drawingml/2006/main">
          <a:graphicData uri="http://schemas.openxmlformats.org/drawingml/2006/table">
            <a:tbl>
              <a:tblPr/>
              <a:tblGrid>
                <a:gridCol w="2667000"/>
                <a:gridCol w="8305800"/>
              </a:tblGrid>
              <a:tr h="531813">
                <a:tc>
                  <a:txBody>
                    <a:bodyPr/>
                    <a:lstStyle/>
                    <a:p>
                      <a:r>
                        <a:rPr sz="1650" b="1">
                          <a:solidFill>
                            <a:srgbClr val="FAF8F2"/>
                          </a:solidFill>
                          <a:latin typeface="DejaVu Sans"/>
                          <a:ea typeface="DejaVu Sans"/>
                          <a:cs typeface="DejaVu Sans"/>
                        </a:rPr>
                        <a:t>Moment</a:t>
                      </a:r>
                    </a:p>
                  </a:txBody>
                  <a:tcPr marL="91440" marR="91440" marT="45720" marB="45720">
                    <a:solidFill>
                      <a:srgbClr val="29475B"/>
                    </a:solidFill>
                  </a:tcPr>
                </a:tc>
                <a:tc>
                  <a:txBody>
                    <a:bodyPr/>
                    <a:lstStyle/>
                    <a:p>
                      <a:r>
                        <a:rPr sz="1650" b="1">
                          <a:solidFill>
                            <a:srgbClr val="FAF8F2"/>
                          </a:solidFill>
                          <a:latin typeface="DejaVu Sans"/>
                          <a:ea typeface="DejaVu Sans"/>
                          <a:cs typeface="DejaVu Sans"/>
                        </a:rPr>
                        <a:t>Example copy</a:t>
                      </a:r>
                    </a:p>
                  </a:txBody>
                  <a:tcPr marL="91440" marR="91440" marT="45720" marB="45720">
                    <a:solidFill>
                      <a:srgbClr val="29475B"/>
                    </a:solidFill>
                  </a:tcPr>
                </a:tc>
              </a:tr>
              <a:tr h="531813">
                <a:tc>
                  <a:txBody>
                    <a:bodyPr/>
                    <a:lstStyle/>
                    <a:p>
                      <a:r>
                        <a:rPr sz="1650" b="0">
                          <a:solidFill>
                            <a:srgbClr val="29475B"/>
                          </a:solidFill>
                          <a:latin typeface="DejaVu Sans"/>
                          <a:ea typeface="DejaVu Sans"/>
                          <a:cs typeface="DejaVu Sans"/>
                        </a:rPr>
                        <a:t>Discovery</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What do you need?</a:t>
                      </a:r>
                    </a:p>
                  </a:txBody>
                  <a:tcPr marL="91440" marR="91440" marT="45720" marB="45720">
                    <a:solidFill>
                      <a:srgbClr val="FAF8F2"/>
                    </a:solidFill>
                  </a:tcPr>
                </a:tc>
              </a:tr>
              <a:tr h="531813">
                <a:tc>
                  <a:txBody>
                    <a:bodyPr/>
                    <a:lstStyle/>
                    <a:p>
                      <a:r>
                        <a:rPr sz="1650" b="0">
                          <a:solidFill>
                            <a:srgbClr val="29475B"/>
                          </a:solidFill>
                          <a:latin typeface="DejaVu Sans"/>
                          <a:ea typeface="DejaVu Sans"/>
                          <a:cs typeface="DejaVu Sans"/>
                        </a:rPr>
                        <a:t>Unavailable item</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Sold out for now. Find an alternative.</a:t>
                      </a:r>
                    </a:p>
                  </a:txBody>
                  <a:tcPr marL="91440" marR="91440" marT="45720" marB="45720">
                    <a:solidFill>
                      <a:srgbClr val="FAF8F2"/>
                    </a:solidFill>
                  </a:tcPr>
                </a:tc>
              </a:tr>
              <a:tr h="531813">
                <a:tc>
                  <a:txBody>
                    <a:bodyPr/>
                    <a:lstStyle/>
                    <a:p>
                      <a:r>
                        <a:rPr sz="1650" b="0">
                          <a:solidFill>
                            <a:srgbClr val="29475B"/>
                          </a:solidFill>
                          <a:latin typeface="DejaVu Sans"/>
                          <a:ea typeface="DejaVu Sans"/>
                          <a:cs typeface="DejaVu Sans"/>
                        </a:rPr>
                        <a:t>Collection</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Your order is ready to collect.</a:t>
                      </a:r>
                    </a:p>
                  </a:txBody>
                  <a:tcPr marL="91440" marR="91440" marT="45720" marB="45720">
                    <a:solidFill>
                      <a:srgbClr val="FAF8F2"/>
                    </a:solidFill>
                  </a:tcPr>
                </a:tc>
              </a:tr>
              <a:tr h="531813">
                <a:tc>
                  <a:txBody>
                    <a:bodyPr/>
                    <a:lstStyle/>
                    <a:p>
                      <a:r>
                        <a:rPr sz="1650" b="0">
                          <a:solidFill>
                            <a:srgbClr val="29475B"/>
                          </a:solidFill>
                          <a:latin typeface="DejaVu Sans"/>
                          <a:ea typeface="DejaVu Sans"/>
                          <a:cs typeface="DejaVu Sans"/>
                        </a:rPr>
                        <a:t>Delay</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Your delivery is taking longer. View the latest update.</a:t>
                      </a:r>
                    </a:p>
                  </a:txBody>
                  <a:tcPr marL="91440" marR="91440" marT="45720" marB="45720">
                    <a:solidFill>
                      <a:srgbClr val="FAF8F2"/>
                    </a:solidFill>
                  </a:tcPr>
                </a:tc>
              </a:tr>
              <a:tr h="531813">
                <a:tc>
                  <a:txBody>
                    <a:bodyPr/>
                    <a:lstStyle/>
                    <a:p>
                      <a:r>
                        <a:rPr sz="1650" b="0">
                          <a:solidFill>
                            <a:srgbClr val="29475B"/>
                          </a:solidFill>
                          <a:latin typeface="DejaVu Sans"/>
                          <a:ea typeface="DejaVu Sans"/>
                          <a:cs typeface="DejaVu Sans"/>
                        </a:rPr>
                        <a:t>Campus campaign</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Made by students. Found on Vossie.</a:t>
                      </a:r>
                    </a:p>
                  </a:txBody>
                  <a:tcPr marL="91440" marR="91440" marT="45720" marB="45720">
                    <a:solidFill>
                      <a:srgbClr val="FAF8F2"/>
                    </a:solidFill>
                  </a:tcPr>
                </a:tc>
              </a:tr>
            </a:tbl>
          </a:graphicData>
        </a:graphic>
      </p:graphicFrame>
    </p:spTree>
    <p:extLst>
      <p:ext uri="{BB962C8B-B14F-4D97-AF65-F5344CB8AC3E}">
        <p14:creationId xmlns:p14="http://schemas.microsoft.com/office/powerpoint/2010/main" val="1369655817"/>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6936A7F-4DE8-4D4B-8F57-886EBBDA17CB}"/>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11</a:t>
            </a:r>
          </a:p>
        </p:txBody>
      </p:sp>
      <p:sp>
        <p:nvSpPr>
          <p:cNvPr id="2" name="">
            <a:extLst xmlns:a="http://schemas.openxmlformats.org/drawingml/2006/main">
              <a:ext uri="{FF2B5EF4-FFF2-40B4-BE49-F238E27FC236}">
                <a16:creationId xmlns:a16="http://schemas.microsoft.com/office/drawing/2014/main" id="{CFD67DDF-BF21-41A5-9E18-0E4A03F6647C}"/>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Delivery packaging</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d3944f0ff184932"/>
          <a:stretch xmlns:a="http://schemas.openxmlformats.org/drawingml/2006/main"/>
        </p:blipFill>
        <p:spPr>
          <a:xfrm xmlns:a="http://schemas.openxmlformats.org/drawingml/2006/main">
            <a:off x="1526429" y="1200150"/>
            <a:ext cx="9139141" cy="5143500"/>
          </a:xfrm>
          <a:prstGeom xmlns:a="http://schemas.openxmlformats.org/drawingml/2006/main" prst="rect">
            <a:avLst/>
          </a:prstGeom>
        </p:spPr>
      </p:pic>
    </p:spTree>
    <p:extLst>
      <p:ext uri="{BB962C8B-B14F-4D97-AF65-F5344CB8AC3E}">
        <p14:creationId xmlns:p14="http://schemas.microsoft.com/office/powerpoint/2010/main" val="533178592"/>
      </p:ext>
    </p:extLst>
  </p:cSld>
</p:sld>
</file>

<file path=ppt/slides/slide1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C24FB8-7788-4D01-ADB4-8DFC67C85B42}"/>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12</a:t>
            </a:r>
          </a:p>
        </p:txBody>
      </p:sp>
      <p:sp>
        <p:nvSpPr>
          <p:cNvPr id="2" name="">
            <a:extLst xmlns:a="http://schemas.openxmlformats.org/drawingml/2006/main">
              <a:ext uri="{FF2B5EF4-FFF2-40B4-BE49-F238E27FC236}">
                <a16:creationId xmlns:a16="http://schemas.microsoft.com/office/drawing/2014/main" id="{AD745DC0-DFF0-4553-9C3E-D708E8452A12}"/>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Packaging details</a:t>
            </a:r>
          </a:p>
        </p:txBody>
      </p:sp>
      <p:sp>
        <p:nvSpPr>
          <p:cNvPr id="3" name="">
            <a:extLst xmlns:a="http://schemas.openxmlformats.org/drawingml/2006/main">
              <a:ext uri="{FF2B5EF4-FFF2-40B4-BE49-F238E27FC236}">
                <a16:creationId xmlns:a16="http://schemas.microsoft.com/office/drawing/2014/main" id="{A72056E5-50EB-4E6C-A784-BA9E80C84C0C}"/>
              </a:ext>
            </a:extLst>
          </p:cNvPr>
          <p:cNvSpPr>
            <a:spLocks xmlns:a="http://schemas.openxmlformats.org/drawingml/2006/main" noGrp="1"/>
          </p:cNvSpPr>
          <p:nvPr/>
        </p:nvSpPr>
        <p:spPr>
          <a:xfrm xmlns:a="http://schemas.openxmlformats.org/drawingml/2006/main">
            <a:off x="609600" y="16192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9475B"/>
                </a:solidFill>
                <a:latin typeface="DejaVu Sans"/>
                <a:ea typeface="DejaVu Sans"/>
                <a:cs typeface="DejaVu Sans"/>
              </a:defRPr>
            </a:pPr>
            <a:r>
              <a:rPr sz="2100" b="1">
                <a:solidFill>
                  <a:srgbClr val="29475B"/>
                </a:solidFill>
                <a:latin typeface="DejaVu Sans"/>
                <a:ea typeface="DejaVu Sans"/>
                <a:cs typeface="DejaVu Sans"/>
              </a:rPr>
              <a:t>The visual system</a:t>
            </a:r>
          </a:p>
        </p:txBody>
      </p:sp>
      <p:sp>
        <p:nvSpPr>
          <p:cNvPr id="4" name="">
            <a:extLst xmlns:a="http://schemas.openxmlformats.org/drawingml/2006/main">
              <a:ext uri="{FF2B5EF4-FFF2-40B4-BE49-F238E27FC236}">
                <a16:creationId xmlns:a16="http://schemas.microsoft.com/office/drawing/2014/main" id="{09E60E82-ABCB-4F3A-8400-090E044547FD}"/>
              </a:ext>
            </a:extLst>
          </p:cNvPr>
          <p:cNvSpPr>
            <a:spLocks xmlns:a="http://schemas.openxmlformats.org/drawingml/2006/main" noGrp="1"/>
          </p:cNvSpPr>
          <p:nvPr/>
        </p:nvSpPr>
        <p:spPr>
          <a:xfrm xmlns:a="http://schemas.openxmlformats.org/drawingml/2006/main">
            <a:off x="609600" y="2190750"/>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475B"/>
                </a:solidFill>
                <a:latin typeface="DejaVu Sans"/>
                <a:ea typeface="DejaVu Sans"/>
                <a:cs typeface="DejaVu Sans"/>
              </a:defRPr>
            </a:pPr>
            <a:r>
              <a:rPr sz="1800" b="0">
                <a:solidFill>
                  <a:srgbClr val="29475B"/>
                </a:solidFill>
                <a:latin typeface="DejaVu Sans"/>
                <a:ea typeface="DejaVu Sans"/>
                <a:cs typeface="DejaVu Sans"/>
              </a:rPr>
              <a:t>Ivory surfaces, navy wordmark and one powder-blue panel. A small seal carries the joined “ss”.</a:t>
            </a:r>
          </a:p>
        </p:txBody>
      </p:sp>
      <p:sp>
        <p:nvSpPr>
          <p:cNvPr id="5" name="">
            <a:extLst xmlns:a="http://schemas.openxmlformats.org/drawingml/2006/main">
              <a:ext uri="{FF2B5EF4-FFF2-40B4-BE49-F238E27FC236}">
                <a16:creationId xmlns:a16="http://schemas.microsoft.com/office/drawing/2014/main" id="{DC2E1495-EC6E-4657-81C8-5ECA6EA1460C}"/>
              </a:ext>
            </a:extLst>
          </p:cNvPr>
          <p:cNvSpPr>
            <a:spLocks xmlns:a="http://schemas.openxmlformats.org/drawingml/2006/main" noGrp="1"/>
          </p:cNvSpPr>
          <p:nvPr/>
        </p:nvSpPr>
        <p:spPr>
          <a:xfrm xmlns:a="http://schemas.openxmlformats.org/drawingml/2006/main">
            <a:off x="6429375" y="16192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9475B"/>
                </a:solidFill>
                <a:latin typeface="DejaVu Sans"/>
                <a:ea typeface="DejaVu Sans"/>
                <a:cs typeface="DejaVu Sans"/>
              </a:defRPr>
            </a:pPr>
            <a:r>
              <a:rPr sz="2100" b="1">
                <a:solidFill>
                  <a:srgbClr val="29475B"/>
                </a:solidFill>
                <a:latin typeface="DejaVu Sans"/>
                <a:ea typeface="DejaVu Sans"/>
                <a:cs typeface="DejaVu Sans"/>
              </a:rPr>
              <a:t>The practical layer</a:t>
            </a:r>
          </a:p>
        </p:txBody>
      </p:sp>
      <p:sp>
        <p:nvSpPr>
          <p:cNvPr id="6" name="">
            <a:extLst xmlns:a="http://schemas.openxmlformats.org/drawingml/2006/main">
              <a:ext uri="{FF2B5EF4-FFF2-40B4-BE49-F238E27FC236}">
                <a16:creationId xmlns:a16="http://schemas.microsoft.com/office/drawing/2014/main" id="{AFB0C38F-CBAA-4F8A-B61E-CDBA977CB08D}"/>
              </a:ext>
            </a:extLst>
          </p:cNvPr>
          <p:cNvSpPr>
            <a:spLocks xmlns:a="http://schemas.openxmlformats.org/drawingml/2006/main" noGrp="1"/>
          </p:cNvSpPr>
          <p:nvPr/>
        </p:nvSpPr>
        <p:spPr>
          <a:xfrm xmlns:a="http://schemas.openxmlformats.org/drawingml/2006/main">
            <a:off x="6429375" y="2190750"/>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475B"/>
                </a:solidFill>
                <a:latin typeface="DejaVu Sans"/>
                <a:ea typeface="DejaVu Sans"/>
                <a:cs typeface="DejaVu Sans"/>
              </a:defRPr>
            </a:pPr>
            <a:r>
              <a:rPr sz="1800" b="0">
                <a:solidFill>
                  <a:srgbClr val="29475B"/>
                </a:solidFill>
                <a:latin typeface="DejaVu Sans"/>
                <a:ea typeface="DejaVu Sans"/>
                <a:cs typeface="DejaVu Sans"/>
              </a:rPr>
              <a:t>Choose packaging by item size and protection needs. Keep order labels separate from brand artwork.</a:t>
            </a:r>
          </a:p>
        </p:txBody>
      </p:sp>
      <p:sp>
        <p:nvSpPr>
          <p:cNvPr id="7" name="">
            <a:extLst xmlns:a="http://schemas.openxmlformats.org/drawingml/2006/main">
              <a:ext uri="{FF2B5EF4-FFF2-40B4-BE49-F238E27FC236}">
                <a16:creationId xmlns:a16="http://schemas.microsoft.com/office/drawing/2014/main" id="{84049022-06AD-4A84-9F67-CB6373446EA2}"/>
              </a:ext>
            </a:extLst>
          </p:cNvPr>
          <p:cNvSpPr>
            <a:spLocks xmlns:a="http://schemas.openxmlformats.org/drawingml/2006/main" noGrp="1"/>
          </p:cNvSpPr>
          <p:nvPr/>
        </p:nvSpPr>
        <p:spPr>
          <a:xfrm xmlns:a="http://schemas.openxmlformats.org/drawingml/2006/main">
            <a:off x="609600" y="44005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9475B"/>
                </a:solidFill>
                <a:latin typeface="DejaVu Sans"/>
                <a:ea typeface="DejaVu Sans"/>
                <a:cs typeface="DejaVu Sans"/>
              </a:defRPr>
            </a:pPr>
            <a:r>
              <a:rPr sz="2250" b="1">
                <a:solidFill>
                  <a:srgbClr val="29475B"/>
                </a:solidFill>
                <a:latin typeface="DejaVu Sans"/>
                <a:ea typeface="DejaVu Sans"/>
                <a:cs typeface="DejaVu Sans"/>
              </a:rPr>
              <a:t>Production brief</a:t>
            </a:r>
          </a:p>
        </p:txBody>
      </p:sp>
      <p:sp>
        <p:nvSpPr>
          <p:cNvPr id="8" name="">
            <a:extLst xmlns:a="http://schemas.openxmlformats.org/drawingml/2006/main">
              <a:ext uri="{FF2B5EF4-FFF2-40B4-BE49-F238E27FC236}">
                <a16:creationId xmlns:a16="http://schemas.microsoft.com/office/drawing/2014/main" id="{9DB4A788-AB14-4ED6-88DC-BDFC12401897}"/>
              </a:ext>
            </a:extLst>
          </p:cNvPr>
          <p:cNvSpPr>
            <a:spLocks xmlns:a="http://schemas.openxmlformats.org/drawingml/2006/main" noGrp="1"/>
          </p:cNvSpPr>
          <p:nvPr/>
        </p:nvSpPr>
        <p:spPr>
          <a:xfrm xmlns:a="http://schemas.openxmlformats.org/drawingml/2006/main">
            <a:off x="609600" y="497205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475B"/>
                </a:solidFill>
                <a:latin typeface="DejaVu Sans"/>
                <a:ea typeface="DejaVu Sans"/>
                <a:cs typeface="DejaVu Sans"/>
              </a:defRPr>
            </a:pPr>
            <a:r>
              <a:rPr sz="1875" b="0">
                <a:solidFill>
                  <a:srgbClr val="29475B"/>
                </a:solidFill>
                <a:latin typeface="DejaVu Sans"/>
                <a:ea typeface="DejaVu Sans"/>
                <a:cs typeface="DejaVu Sans"/>
              </a:rPr>
              <a:t>Supplier dielines, print proofs, material selection and closure tests follow this concept. Food items need suitable food-contact packaging. Do not print unnecessary student details.</a:t>
            </a:r>
          </a:p>
        </p:txBody>
      </p:sp>
    </p:spTree>
    <p:extLst>
      <p:ext uri="{BB962C8B-B14F-4D97-AF65-F5344CB8AC3E}">
        <p14:creationId xmlns:p14="http://schemas.microsoft.com/office/powerpoint/2010/main" val="40250776"/>
      </p:ext>
    </p:extLst>
  </p:cSld>
</p:sld>
</file>

<file path=ppt/slides/slide1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8DD7C4E-B823-4056-9E4B-F8542E2D9B7D}"/>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13</a:t>
            </a:r>
          </a:p>
        </p:txBody>
      </p:sp>
      <p:sp>
        <p:nvSpPr>
          <p:cNvPr id="2" name="">
            <a:extLst xmlns:a="http://schemas.openxmlformats.org/drawingml/2006/main">
              <a:ext uri="{FF2B5EF4-FFF2-40B4-BE49-F238E27FC236}">
                <a16:creationId xmlns:a16="http://schemas.microsoft.com/office/drawing/2014/main" id="{9E0B787E-931B-44DF-AE6A-DC6F0F426D19}"/>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Campus brand applications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164540c735c4eb1"/>
          <a:stretch xmlns:a="http://schemas.openxmlformats.org/drawingml/2006/main"/>
        </p:blipFill>
        <p:spPr>
          <a:xfrm xmlns:a="http://schemas.openxmlformats.org/drawingml/2006/main">
            <a:off x="1526429" y="1200150"/>
            <a:ext cx="9139141" cy="5143500"/>
          </a:xfrm>
          <a:prstGeom xmlns:a="http://schemas.openxmlformats.org/drawingml/2006/main" prst="rect">
            <a:avLst/>
          </a:prstGeom>
        </p:spPr>
      </p:pic>
    </p:spTree>
    <p:extLst>
      <p:ext uri="{BB962C8B-B14F-4D97-AF65-F5344CB8AC3E}">
        <p14:creationId xmlns:p14="http://schemas.microsoft.com/office/powerpoint/2010/main" val="2139453891"/>
      </p:ext>
    </p:extLst>
  </p:cSld>
</p:sld>
</file>

<file path=ppt/slides/slide1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72DA368-49F3-4A2A-ABBD-633FAFCCBB54}"/>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14</a:t>
            </a:r>
          </a:p>
        </p:txBody>
      </p:sp>
      <p:sp>
        <p:nvSpPr>
          <p:cNvPr id="2" name="">
            <a:extLst xmlns:a="http://schemas.openxmlformats.org/drawingml/2006/main">
              <a:ext uri="{FF2B5EF4-FFF2-40B4-BE49-F238E27FC236}">
                <a16:creationId xmlns:a16="http://schemas.microsoft.com/office/drawing/2014/main" id="{DB17914F-CDAD-4EC7-A043-64894EA36C4A}"/>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App navigation</a:t>
            </a:r>
          </a:p>
        </p:txBody>
      </p:sp>
      <p:graphicFrame>
        <p:nvGraphicFramePr>
          <p:cNvPr id="7" name=""/>
          <p:cNvGraphicFramePr/>
          <p:nvPr/>
        </p:nvGraphicFramePr>
        <p:xfrm>
          <a:off xmlns:a="http://schemas.openxmlformats.org/drawingml/2006/main" x="609600" y="1504950"/>
          <a:ext xmlns:a="http://schemas.openxmlformats.org/drawingml/2006/main" cx="10972800" cy="4000500"/>
        </p:xfrm>
        <a:graphic xmlns:a="http://schemas.openxmlformats.org/drawingml/2006/main">
          <a:graphicData uri="http://schemas.openxmlformats.org/drawingml/2006/table">
            <a:tbl>
              <a:tblPr/>
              <a:tblGrid>
                <a:gridCol w="2714625"/>
                <a:gridCol w="8258175"/>
              </a:tblGrid>
              <a:tr h="666750">
                <a:tc>
                  <a:txBody>
                    <a:bodyPr/>
                    <a:lstStyle/>
                    <a:p>
                      <a:r>
                        <a:rPr sz="1650" b="1">
                          <a:solidFill>
                            <a:srgbClr val="FAF8F2"/>
                          </a:solidFill>
                          <a:latin typeface="DejaVu Sans"/>
                          <a:ea typeface="DejaVu Sans"/>
                          <a:cs typeface="DejaVu Sans"/>
                        </a:rPr>
                        <a:t>Area</a:t>
                      </a:r>
                    </a:p>
                  </a:txBody>
                  <a:tcPr marL="91440" marR="91440" marT="45720" marB="45720">
                    <a:solidFill>
                      <a:srgbClr val="29475B"/>
                    </a:solidFill>
                  </a:tcPr>
                </a:tc>
                <a:tc>
                  <a:txBody>
                    <a:bodyPr/>
                    <a:lstStyle/>
                    <a:p>
                      <a:r>
                        <a:rPr sz="1650" b="1">
                          <a:solidFill>
                            <a:srgbClr val="FAF8F2"/>
                          </a:solidFill>
                          <a:latin typeface="DejaVu Sans"/>
                          <a:ea typeface="DejaVu Sans"/>
                          <a:cs typeface="DejaVu Sans"/>
                        </a:rPr>
                        <a:t>Purpose</a:t>
                      </a:r>
                    </a:p>
                  </a:txBody>
                  <a:tcPr marL="91440" marR="91440" marT="45720" marB="45720">
                    <a:solidFill>
                      <a:srgbClr val="29475B"/>
                    </a:solidFill>
                  </a:tcPr>
                </a:tc>
              </a:tr>
              <a:tr h="666750">
                <a:tc>
                  <a:txBody>
                    <a:bodyPr/>
                    <a:lstStyle/>
                    <a:p>
                      <a:r>
                        <a:rPr sz="1650" b="0">
                          <a:solidFill>
                            <a:srgbClr val="29475B"/>
                          </a:solidFill>
                          <a:latin typeface="DejaVu Sans"/>
                          <a:ea typeface="DejaVu Sans"/>
                          <a:cs typeface="DejaVu Sans"/>
                        </a:rPr>
                        <a:t>Home</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Campus, destination, search and everyday tasks</a:t>
                      </a:r>
                    </a:p>
                  </a:txBody>
                  <a:tcPr marL="91440" marR="91440" marT="45720" marB="45720">
                    <a:solidFill>
                      <a:srgbClr val="FAF8F2"/>
                    </a:solidFill>
                  </a:tcPr>
                </a:tc>
              </a:tr>
              <a:tr h="666750">
                <a:tc>
                  <a:txBody>
                    <a:bodyPr/>
                    <a:lstStyle/>
                    <a:p>
                      <a:r>
                        <a:rPr sz="1650" b="0">
                          <a:solidFill>
                            <a:srgbClr val="29475B"/>
                          </a:solidFill>
                          <a:latin typeface="DejaVu Sans"/>
                          <a:ea typeface="DejaVu Sans"/>
                          <a:cs typeface="DejaVu Sans"/>
                        </a:rPr>
                        <a:t>Activity</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Current orders, live status and order history</a:t>
                      </a:r>
                    </a:p>
                  </a:txBody>
                  <a:tcPr marL="91440" marR="91440" marT="45720" marB="45720">
                    <a:solidFill>
                      <a:srgbClr val="FAF8F2"/>
                    </a:solidFill>
                  </a:tcPr>
                </a:tc>
              </a:tr>
              <a:tr h="666750">
                <a:tc>
                  <a:txBody>
                    <a:bodyPr/>
                    <a:lstStyle/>
                    <a:p>
                      <a:r>
                        <a:rPr sz="1650" b="0">
                          <a:solidFill>
                            <a:srgbClr val="29475B"/>
                          </a:solidFill>
                          <a:latin typeface="DejaVu Sans"/>
                          <a:ea typeface="DejaVu Sans"/>
                          <a:cs typeface="DejaVu Sans"/>
                        </a:rPr>
                        <a:t>Account</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Profile, verification, support and role switching</a:t>
                      </a:r>
                    </a:p>
                  </a:txBody>
                  <a:tcPr marL="91440" marR="91440" marT="45720" marB="45720">
                    <a:solidFill>
                      <a:srgbClr val="FAF8F2"/>
                    </a:solidFill>
                  </a:tcPr>
                </a:tc>
              </a:tr>
              <a:tr h="666750">
                <a:tc>
                  <a:txBody>
                    <a:bodyPr/>
                    <a:lstStyle/>
                    <a:p>
                      <a:r>
                        <a:rPr sz="1650" b="0">
                          <a:solidFill>
                            <a:srgbClr val="29475B"/>
                          </a:solidFill>
                          <a:latin typeface="DejaVu Sans"/>
                          <a:ea typeface="DejaVu Sans"/>
                          <a:cs typeface="DejaVu Sans"/>
                        </a:rPr>
                        <a:t>Seller mode</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Requests, shop availability and order preparation</a:t>
                      </a:r>
                    </a:p>
                  </a:txBody>
                  <a:tcPr marL="91440" marR="91440" marT="45720" marB="45720">
                    <a:solidFill>
                      <a:srgbClr val="FAF8F2"/>
                    </a:solidFill>
                  </a:tcPr>
                </a:tc>
              </a:tr>
              <a:tr h="666750">
                <a:tc>
                  <a:txBody>
                    <a:bodyPr/>
                    <a:lstStyle/>
                    <a:p>
                      <a:r>
                        <a:rPr sz="1650" b="0">
                          <a:solidFill>
                            <a:srgbClr val="29475B"/>
                          </a:solidFill>
                          <a:latin typeface="DejaVu Sans"/>
                          <a:ea typeface="DejaVu Sans"/>
                          <a:cs typeface="DejaVu Sans"/>
                        </a:rPr>
                        <a:t>Courier mode</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Offers, active delivery and earnings</a:t>
                      </a:r>
                    </a:p>
                  </a:txBody>
                  <a:tcPr marL="91440" marR="91440" marT="45720" marB="45720">
                    <a:solidFill>
                      <a:srgbClr val="FAF8F2"/>
                    </a:solidFill>
                  </a:tcPr>
                </a:tc>
              </a:tr>
            </a:tbl>
          </a:graphicData>
        </a:graphic>
      </p:graphicFrame>
      <p:sp>
        <p:nvSpPr>
          <p:cNvPr id="4" name="">
            <a:extLst xmlns:a="http://schemas.openxmlformats.org/drawingml/2006/main">
              <a:ext uri="{FF2B5EF4-FFF2-40B4-BE49-F238E27FC236}">
                <a16:creationId xmlns:a16="http://schemas.microsoft.com/office/drawing/2014/main" id="{662E314C-A354-4E7B-BB63-A91347FA0B50}"/>
              </a:ext>
            </a:extLst>
          </p:cNvPr>
          <p:cNvSpPr>
            <a:spLocks xmlns:a="http://schemas.openxmlformats.org/drawingml/2006/main" noGrp="1"/>
          </p:cNvSpPr>
          <p:nvPr/>
        </p:nvSpPr>
        <p:spPr>
          <a:xfrm xmlns:a="http://schemas.openxmlformats.org/drawingml/2006/main">
            <a:off x="609600" y="58388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7487"/>
                </a:solidFill>
                <a:latin typeface="DejaVu Sans"/>
                <a:ea typeface="DejaVu Sans"/>
                <a:cs typeface="DejaVu Sans"/>
              </a:defRPr>
            </a:pPr>
            <a:r>
              <a:rPr sz="1725" b="0">
                <a:solidFill>
                  <a:srgbClr val="567487"/>
                </a:solidFill>
                <a:latin typeface="DejaVu Sans"/>
                <a:ea typeface="DejaVu Sans"/>
                <a:cs typeface="DejaVu Sans"/>
              </a:rPr>
              <a:t>One student identity. Additional verification unlocks seller and courier roles.</a:t>
            </a:r>
          </a:p>
        </p:txBody>
      </p:sp>
    </p:spTree>
    <p:extLst>
      <p:ext uri="{BB962C8B-B14F-4D97-AF65-F5344CB8AC3E}">
        <p14:creationId xmlns:p14="http://schemas.microsoft.com/office/powerpoint/2010/main" val="1848300326"/>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DA4796-3A54-4EC4-82A2-945E1CC7A9B3}"/>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15</a:t>
            </a:r>
          </a:p>
        </p:txBody>
      </p:sp>
      <p:sp>
        <p:nvSpPr>
          <p:cNvPr id="2" name="">
            <a:extLst xmlns:a="http://schemas.openxmlformats.org/drawingml/2006/main">
              <a:ext uri="{FF2B5EF4-FFF2-40B4-BE49-F238E27FC236}">
                <a16:creationId xmlns:a16="http://schemas.microsoft.com/office/drawing/2014/main" id="{7DA3B9C6-5C06-4586-8F37-B1ABA8A90B18}"/>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The buyer experience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f745546994440e8"/>
          <a:stretch xmlns:a="http://schemas.openxmlformats.org/drawingml/2006/main"/>
        </p:blipFill>
        <p:spPr>
          <a:xfrm xmlns:a="http://schemas.openxmlformats.org/drawingml/2006/main">
            <a:off x="1340262" y="1143000"/>
            <a:ext cx="9511477" cy="5353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C2F5D13-2A46-4CBF-B1C9-AF08E396682C}"/>
              </a:ext>
            </a:extLst>
          </p:cNvPr>
          <p:cNvSpPr>
            <a:spLocks xmlns:a="http://schemas.openxmlformats.org/drawingml/2006/main" noGrp="1"/>
          </p:cNvSpPr>
          <p:nvPr/>
        </p:nvSpPr>
        <p:spPr>
          <a:xfrm xmlns:a="http://schemas.openxmlformats.org/drawingml/2006/main">
            <a:off x="609600" y="652462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Concept UI. Prices, map, route and arrival time are illustrative.</a:t>
            </a:r>
          </a:p>
        </p:txBody>
      </p:sp>
    </p:spTree>
    <p:extLst>
      <p:ext uri="{BB962C8B-B14F-4D97-AF65-F5344CB8AC3E}">
        <p14:creationId xmlns:p14="http://schemas.microsoft.com/office/powerpoint/2010/main" val="951556177"/>
      </p:ext>
    </p:extLst>
  </p:cSld>
</p:sld>
</file>

<file path=ppt/slides/slide1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F4F456B-3B26-4660-9EC4-487FE6A1456C}"/>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16</a:t>
            </a:r>
          </a:p>
        </p:txBody>
      </p:sp>
      <p:sp>
        <p:nvSpPr>
          <p:cNvPr id="2" name="">
            <a:extLst xmlns:a="http://schemas.openxmlformats.org/drawingml/2006/main">
              <a:ext uri="{FF2B5EF4-FFF2-40B4-BE49-F238E27FC236}">
                <a16:creationId xmlns:a16="http://schemas.microsoft.com/office/drawing/2014/main" id="{5FE4AE9A-1968-42F5-A5DB-D3D5060416DF}"/>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Seller and courier dispatch</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4d5a6d060ad4d54"/>
          <a:stretch xmlns:a="http://schemas.openxmlformats.org/drawingml/2006/main"/>
        </p:blipFill>
        <p:spPr>
          <a:xfrm xmlns:a="http://schemas.openxmlformats.org/drawingml/2006/main">
            <a:off x="1340262" y="1143000"/>
            <a:ext cx="9511477" cy="5353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E1227B1-E941-4702-8338-89E2256E3515}"/>
              </a:ext>
            </a:extLst>
          </p:cNvPr>
          <p:cNvSpPr>
            <a:spLocks xmlns:a="http://schemas.openxmlformats.org/drawingml/2006/main" noGrp="1"/>
          </p:cNvSpPr>
          <p:nvPr/>
        </p:nvSpPr>
        <p:spPr>
          <a:xfrm xmlns:a="http://schemas.openxmlformats.org/drawingml/2006/main">
            <a:off x="609600" y="652462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Concept UI. Countdown, route, earnings and timing are illustrative.</a:t>
            </a:r>
          </a:p>
        </p:txBody>
      </p:sp>
    </p:spTree>
    <p:extLst>
      <p:ext uri="{BB962C8B-B14F-4D97-AF65-F5344CB8AC3E}">
        <p14:creationId xmlns:p14="http://schemas.microsoft.com/office/powerpoint/2010/main" val="255875067"/>
      </p:ext>
    </p:extLst>
  </p:cSld>
</p:sld>
</file>

<file path=ppt/slides/slide1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490692-C8E2-49D7-AF36-3D51DA86094A}"/>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17</a:t>
            </a:r>
          </a:p>
        </p:txBody>
      </p:sp>
      <p:sp>
        <p:nvSpPr>
          <p:cNvPr id="2" name="">
            <a:extLst xmlns:a="http://schemas.openxmlformats.org/drawingml/2006/main">
              <a:ext uri="{FF2B5EF4-FFF2-40B4-BE49-F238E27FC236}">
                <a16:creationId xmlns:a16="http://schemas.microsoft.com/office/drawing/2014/main" id="{595AE6D8-A057-4B77-A182-49CEEF5ED6EC}"/>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The journey behind the screens</a:t>
            </a:r>
          </a:p>
        </p:txBody>
      </p:sp>
      <p:graphicFrame>
        <p:nvGraphicFramePr>
          <p:cNvPr id="7" name=""/>
          <p:cNvGraphicFramePr/>
          <p:nvPr/>
        </p:nvGraphicFramePr>
        <p:xfrm>
          <a:off xmlns:a="http://schemas.openxmlformats.org/drawingml/2006/main" x="609600" y="1514475"/>
          <a:ext xmlns:a="http://schemas.openxmlformats.org/drawingml/2006/main" cx="10972800" cy="4000500"/>
        </p:xfrm>
        <a:graphic xmlns:a="http://schemas.openxmlformats.org/drawingml/2006/main">
          <a:graphicData uri="http://schemas.openxmlformats.org/drawingml/2006/table">
            <a:tbl>
              <a:tblPr/>
              <a:tblGrid>
                <a:gridCol w="2476500"/>
                <a:gridCol w="8496300"/>
              </a:tblGrid>
              <a:tr h="666750">
                <a:tc>
                  <a:txBody>
                    <a:bodyPr/>
                    <a:lstStyle/>
                    <a:p>
                      <a:r>
                        <a:rPr sz="1650" b="1">
                          <a:solidFill>
                            <a:srgbClr val="FAF8F2"/>
                          </a:solidFill>
                          <a:latin typeface="DejaVu Sans"/>
                          <a:ea typeface="DejaVu Sans"/>
                          <a:cs typeface="DejaVu Sans"/>
                        </a:rPr>
                        <a:t>Stage</a:t>
                      </a:r>
                    </a:p>
                  </a:txBody>
                  <a:tcPr marL="91440" marR="91440" marT="45720" marB="45720">
                    <a:solidFill>
                      <a:srgbClr val="29475B"/>
                    </a:solidFill>
                  </a:tcPr>
                </a:tc>
                <a:tc>
                  <a:txBody>
                    <a:bodyPr/>
                    <a:lstStyle/>
                    <a:p>
                      <a:r>
                        <a:rPr sz="1650" b="1">
                          <a:solidFill>
                            <a:srgbClr val="FAF8F2"/>
                          </a:solidFill>
                          <a:latin typeface="DejaVu Sans"/>
                          <a:ea typeface="DejaVu Sans"/>
                          <a:cs typeface="DejaVu Sans"/>
                        </a:rPr>
                        <a:t>What the student sees</a:t>
                      </a:r>
                    </a:p>
                  </a:txBody>
                  <a:tcPr marL="91440" marR="91440" marT="45720" marB="45720">
                    <a:solidFill>
                      <a:srgbClr val="29475B"/>
                    </a:solidFill>
                  </a:tcPr>
                </a:tc>
              </a:tr>
              <a:tr h="666750">
                <a:tc>
                  <a:txBody>
                    <a:bodyPr/>
                    <a:lstStyle/>
                    <a:p>
                      <a:r>
                        <a:rPr sz="1650" b="0">
                          <a:solidFill>
                            <a:srgbClr val="29475B"/>
                          </a:solidFill>
                          <a:latin typeface="DejaVu Sans"/>
                          <a:ea typeface="DejaVu Sans"/>
                          <a:cs typeface="DejaVu Sans"/>
                        </a:rPr>
                        <a:t>Discover</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Local availability and a clear item or service choice</a:t>
                      </a:r>
                    </a:p>
                  </a:txBody>
                  <a:tcPr marL="91440" marR="91440" marT="45720" marB="45720">
                    <a:solidFill>
                      <a:srgbClr val="FAF8F2"/>
                    </a:solidFill>
                  </a:tcPr>
                </a:tc>
              </a:tr>
              <a:tr h="666750">
                <a:tc>
                  <a:txBody>
                    <a:bodyPr/>
                    <a:lstStyle/>
                    <a:p>
                      <a:r>
                        <a:rPr sz="1650" b="0">
                          <a:solidFill>
                            <a:srgbClr val="29475B"/>
                          </a:solidFill>
                          <a:latin typeface="DejaVu Sans"/>
                          <a:ea typeface="DejaVu Sans"/>
                          <a:cs typeface="DejaVu Sans"/>
                        </a:rPr>
                        <a:t>Confirm</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Destination, fulfilment, complete fees and payment</a:t>
                      </a:r>
                    </a:p>
                  </a:txBody>
                  <a:tcPr marL="91440" marR="91440" marT="45720" marB="45720">
                    <a:solidFill>
                      <a:srgbClr val="FAF8F2"/>
                    </a:solidFill>
                  </a:tcPr>
                </a:tc>
              </a:tr>
              <a:tr h="666750">
                <a:tc>
                  <a:txBody>
                    <a:bodyPr/>
                    <a:lstStyle/>
                    <a:p>
                      <a:r>
                        <a:rPr sz="1650" b="0">
                          <a:solidFill>
                            <a:srgbClr val="29475B"/>
                          </a:solidFill>
                          <a:latin typeface="DejaVu Sans"/>
                          <a:ea typeface="DejaVu Sans"/>
                          <a:cs typeface="DejaVu Sans"/>
                        </a:rPr>
                        <a:t>Match</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Seller acceptance, then courier allocation if required</a:t>
                      </a:r>
                    </a:p>
                  </a:txBody>
                  <a:tcPr marL="91440" marR="91440" marT="45720" marB="45720">
                    <a:solidFill>
                      <a:srgbClr val="FAF8F2"/>
                    </a:solidFill>
                  </a:tcPr>
                </a:tc>
              </a:tr>
              <a:tr h="666750">
                <a:tc>
                  <a:txBody>
                    <a:bodyPr/>
                    <a:lstStyle/>
                    <a:p>
                      <a:r>
                        <a:rPr sz="1650" b="0">
                          <a:solidFill>
                            <a:srgbClr val="29475B"/>
                          </a:solidFill>
                          <a:latin typeface="DejaVu Sans"/>
                          <a:ea typeface="DejaVu Sans"/>
                          <a:cs typeface="DejaVu Sans"/>
                        </a:rPr>
                        <a:t>Track</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Current stage, estimated arrival and support</a:t>
                      </a:r>
                    </a:p>
                  </a:txBody>
                  <a:tcPr marL="91440" marR="91440" marT="45720" marB="45720">
                    <a:solidFill>
                      <a:srgbClr val="FAF8F2"/>
                    </a:solidFill>
                  </a:tcPr>
                </a:tc>
              </a:tr>
              <a:tr h="666750">
                <a:tc>
                  <a:txBody>
                    <a:bodyPr/>
                    <a:lstStyle/>
                    <a:p>
                      <a:r>
                        <a:rPr sz="1650" b="0">
                          <a:solidFill>
                            <a:srgbClr val="29475B"/>
                          </a:solidFill>
                          <a:latin typeface="DejaVu Sans"/>
                          <a:ea typeface="DejaVu Sans"/>
                          <a:cs typeface="DejaVu Sans"/>
                        </a:rPr>
                        <a:t>Receive</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Collection code or recipient PIN, then completion</a:t>
                      </a:r>
                    </a:p>
                  </a:txBody>
                  <a:tcPr marL="91440" marR="91440" marT="45720" marB="45720">
                    <a:solidFill>
                      <a:srgbClr val="FAF8F2"/>
                    </a:solidFill>
                  </a:tcPr>
                </a:tc>
              </a:tr>
            </a:tbl>
          </a:graphicData>
        </a:graphic>
      </p:graphicFrame>
      <p:sp>
        <p:nvSpPr>
          <p:cNvPr id="4" name="">
            <a:extLst xmlns:a="http://schemas.openxmlformats.org/drawingml/2006/main">
              <a:ext uri="{FF2B5EF4-FFF2-40B4-BE49-F238E27FC236}">
                <a16:creationId xmlns:a16="http://schemas.microsoft.com/office/drawing/2014/main" id="{EE1F2FF0-540C-443F-9D81-C7C4D9B89CFC}"/>
              </a:ext>
            </a:extLst>
          </p:cNvPr>
          <p:cNvSpPr>
            <a:spLocks xmlns:a="http://schemas.openxmlformats.org/drawingml/2006/main" noGrp="1"/>
          </p:cNvSpPr>
          <p:nvPr/>
        </p:nvSpPr>
        <p:spPr>
          <a:xfrm xmlns:a="http://schemas.openxmlformats.org/drawingml/2006/main">
            <a:off x="609600" y="58483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7487"/>
                </a:solidFill>
                <a:latin typeface="DejaVu Sans"/>
                <a:ea typeface="DejaVu Sans"/>
                <a:cs typeface="DejaVu Sans"/>
              </a:defRPr>
            </a:pPr>
            <a:r>
              <a:rPr sz="1725" b="0">
                <a:solidFill>
                  <a:srgbClr val="567487"/>
                </a:solidFill>
                <a:latin typeface="DejaVu Sans"/>
                <a:ea typeface="DejaVu Sans"/>
                <a:cs typeface="DejaVu Sans"/>
              </a:rPr>
              <a:t>Hub transfers can sit between preparation and final delivery, with clear status updates.</a:t>
            </a:r>
          </a:p>
        </p:txBody>
      </p:sp>
    </p:spTree>
    <p:extLst>
      <p:ext uri="{BB962C8B-B14F-4D97-AF65-F5344CB8AC3E}">
        <p14:creationId xmlns:p14="http://schemas.microsoft.com/office/powerpoint/2010/main" val="1721841549"/>
      </p:ext>
    </p:extLst>
  </p:cSld>
</p:sld>
</file>

<file path=ppt/slides/slide1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12E648-E577-47DA-BE03-63608E0C7EFE}"/>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18</a:t>
            </a:r>
          </a:p>
        </p:txBody>
      </p:sp>
      <p:sp>
        <p:nvSpPr>
          <p:cNvPr id="2" name="">
            <a:extLst xmlns:a="http://schemas.openxmlformats.org/drawingml/2006/main">
              <a:ext uri="{FF2B5EF4-FFF2-40B4-BE49-F238E27FC236}">
                <a16:creationId xmlns:a16="http://schemas.microsoft.com/office/drawing/2014/main" id="{48E1A944-7233-477A-9B69-6C67261D545D}"/>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When the plan changes</a:t>
            </a:r>
          </a:p>
        </p:txBody>
      </p:sp>
      <p:graphicFrame>
        <p:nvGraphicFramePr>
          <p:cNvPr id="7" name=""/>
          <p:cNvGraphicFramePr/>
          <p:nvPr/>
        </p:nvGraphicFramePr>
        <p:xfrm>
          <a:off xmlns:a="http://schemas.openxmlformats.org/drawingml/2006/main" x="609600" y="1514475"/>
          <a:ext xmlns:a="http://schemas.openxmlformats.org/drawingml/2006/main" cx="10972800" cy="4000500"/>
        </p:xfrm>
        <a:graphic xmlns:a="http://schemas.openxmlformats.org/drawingml/2006/main">
          <a:graphicData uri="http://schemas.openxmlformats.org/drawingml/2006/table">
            <a:tbl>
              <a:tblPr/>
              <a:tblGrid>
                <a:gridCol w="3476625"/>
                <a:gridCol w="7496175"/>
              </a:tblGrid>
              <a:tr h="666750">
                <a:tc>
                  <a:txBody>
                    <a:bodyPr/>
                    <a:lstStyle/>
                    <a:p>
                      <a:r>
                        <a:rPr sz="1650" b="1">
                          <a:solidFill>
                            <a:srgbClr val="FAF8F2"/>
                          </a:solidFill>
                          <a:latin typeface="DejaVu Sans"/>
                          <a:ea typeface="DejaVu Sans"/>
                          <a:cs typeface="DejaVu Sans"/>
                        </a:rPr>
                        <a:t>Situation</a:t>
                      </a:r>
                    </a:p>
                  </a:txBody>
                  <a:tcPr marL="91440" marR="91440" marT="45720" marB="45720">
                    <a:solidFill>
                      <a:srgbClr val="29475B"/>
                    </a:solidFill>
                  </a:tcPr>
                </a:tc>
                <a:tc>
                  <a:txBody>
                    <a:bodyPr/>
                    <a:lstStyle/>
                    <a:p>
                      <a:r>
                        <a:rPr sz="1650" b="1">
                          <a:solidFill>
                            <a:srgbClr val="FAF8F2"/>
                          </a:solidFill>
                          <a:latin typeface="DejaVu Sans"/>
                          <a:ea typeface="DejaVu Sans"/>
                          <a:cs typeface="DejaVu Sans"/>
                        </a:rPr>
                        <a:t>Interface response</a:t>
                      </a:r>
                    </a:p>
                  </a:txBody>
                  <a:tcPr marL="91440" marR="91440" marT="45720" marB="45720">
                    <a:solidFill>
                      <a:srgbClr val="29475B"/>
                    </a:solidFill>
                  </a:tcPr>
                </a:tc>
              </a:tr>
              <a:tr h="666750">
                <a:tc>
                  <a:txBody>
                    <a:bodyPr/>
                    <a:lstStyle/>
                    <a:p>
                      <a:r>
                        <a:rPr sz="1650" b="0">
                          <a:solidFill>
                            <a:srgbClr val="29475B"/>
                          </a:solidFill>
                          <a:latin typeface="DejaVu Sans"/>
                          <a:ea typeface="DejaVu Sans"/>
                          <a:cs typeface="DejaVu Sans"/>
                        </a:rPr>
                        <a:t>Seller declines or times out</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Offer an alternative and explain the next step</a:t>
                      </a:r>
                    </a:p>
                  </a:txBody>
                  <a:tcPr marL="91440" marR="91440" marT="45720" marB="45720">
                    <a:solidFill>
                      <a:srgbClr val="FAF8F2"/>
                    </a:solidFill>
                  </a:tcPr>
                </a:tc>
              </a:tr>
              <a:tr h="666750">
                <a:tc>
                  <a:txBody>
                    <a:bodyPr/>
                    <a:lstStyle/>
                    <a:p>
                      <a:r>
                        <a:rPr sz="1650" b="0">
                          <a:solidFill>
                            <a:srgbClr val="29475B"/>
                          </a:solidFill>
                          <a:latin typeface="DejaVu Sans"/>
                          <a:ea typeface="DejaVu Sans"/>
                          <a:cs typeface="DejaVu Sans"/>
                        </a:rPr>
                        <a:t>No courier available</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Show waiting status and available fulfilment options</a:t>
                      </a:r>
                    </a:p>
                  </a:txBody>
                  <a:tcPr marL="91440" marR="91440" marT="45720" marB="45720">
                    <a:solidFill>
                      <a:srgbClr val="FAF8F2"/>
                    </a:solidFill>
                  </a:tcPr>
                </a:tc>
              </a:tr>
              <a:tr h="666750">
                <a:tc>
                  <a:txBody>
                    <a:bodyPr/>
                    <a:lstStyle/>
                    <a:p>
                      <a:r>
                        <a:rPr sz="1650" b="0">
                          <a:solidFill>
                            <a:srgbClr val="29475B"/>
                          </a:solidFill>
                          <a:latin typeface="DejaVu Sans"/>
                          <a:ea typeface="DejaVu Sans"/>
                          <a:cs typeface="DejaVu Sans"/>
                        </a:rPr>
                        <a:t>Tracking signal is lost</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Show the last update time and a text status</a:t>
                      </a:r>
                    </a:p>
                  </a:txBody>
                  <a:tcPr marL="91440" marR="91440" marT="45720" marB="45720">
                    <a:solidFill>
                      <a:srgbClr val="FAF8F2"/>
                    </a:solidFill>
                  </a:tcPr>
                </a:tc>
              </a:tr>
              <a:tr h="666750">
                <a:tc>
                  <a:txBody>
                    <a:bodyPr/>
                    <a:lstStyle/>
                    <a:p>
                      <a:r>
                        <a:rPr sz="1650" b="0">
                          <a:solidFill>
                            <a:srgbClr val="29475B"/>
                          </a:solidFill>
                          <a:latin typeface="DejaVu Sans"/>
                          <a:ea typeface="DejaVu Sans"/>
                          <a:cs typeface="DejaVu Sans"/>
                        </a:rPr>
                        <a:t>Package needs correction</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Explain the pause, reason and next action</a:t>
                      </a:r>
                    </a:p>
                  </a:txBody>
                  <a:tcPr marL="91440" marR="91440" marT="45720" marB="45720">
                    <a:solidFill>
                      <a:srgbClr val="FAF8F2"/>
                    </a:solidFill>
                  </a:tcPr>
                </a:tc>
              </a:tr>
              <a:tr h="666750">
                <a:tc>
                  <a:txBody>
                    <a:bodyPr/>
                    <a:lstStyle/>
                    <a:p>
                      <a:r>
                        <a:rPr sz="1650" b="0">
                          <a:solidFill>
                            <a:srgbClr val="29475B"/>
                          </a:solidFill>
                          <a:latin typeface="DejaVu Sans"/>
                          <a:ea typeface="DejaVu Sans"/>
                          <a:cs typeface="DejaVu Sans"/>
                        </a:rPr>
                        <a:t>Order needs help</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Keep order details and a support route together</a:t>
                      </a:r>
                    </a:p>
                  </a:txBody>
                  <a:tcPr marL="91440" marR="91440" marT="45720" marB="45720">
                    <a:solidFill>
                      <a:srgbClr val="FAF8F2"/>
                    </a:solidFill>
                  </a:tcPr>
                </a:tc>
              </a:tr>
            </a:tbl>
          </a:graphicData>
        </a:graphic>
      </p:graphicFrame>
      <p:sp>
        <p:nvSpPr>
          <p:cNvPr id="4" name="">
            <a:extLst xmlns:a="http://schemas.openxmlformats.org/drawingml/2006/main">
              <a:ext uri="{FF2B5EF4-FFF2-40B4-BE49-F238E27FC236}">
                <a16:creationId xmlns:a16="http://schemas.microsoft.com/office/drawing/2014/main" id="{A59013EC-4A3E-425D-BE44-6C09003D0E56}"/>
              </a:ext>
            </a:extLst>
          </p:cNvPr>
          <p:cNvSpPr>
            <a:spLocks xmlns:a="http://schemas.openxmlformats.org/drawingml/2006/main" noGrp="1"/>
          </p:cNvSpPr>
          <p:nvPr/>
        </p:nvSpPr>
        <p:spPr>
          <a:xfrm xmlns:a="http://schemas.openxmlformats.org/drawingml/2006/main">
            <a:off x="609600" y="58483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7487"/>
                </a:solidFill>
                <a:latin typeface="DejaVu Sans"/>
                <a:ea typeface="DejaVu Sans"/>
                <a:cs typeface="DejaVu Sans"/>
              </a:defRPr>
            </a:pPr>
            <a:r>
              <a:rPr sz="1875" b="0">
                <a:solidFill>
                  <a:srgbClr val="567487"/>
                </a:solidFill>
                <a:latin typeface="DejaVu Sans"/>
                <a:ea typeface="DejaVu Sans"/>
                <a:cs typeface="DejaVu Sans"/>
              </a:rPr>
              <a:t>A calm design must explain uncertainty as clearly as success.</a:t>
            </a:r>
          </a:p>
        </p:txBody>
      </p:sp>
    </p:spTree>
    <p:extLst>
      <p:ext uri="{BB962C8B-B14F-4D97-AF65-F5344CB8AC3E}">
        <p14:creationId xmlns:p14="http://schemas.microsoft.com/office/powerpoint/2010/main" val="65219283"/>
      </p:ext>
    </p:extLst>
  </p:cSld>
</p:sld>
</file>

<file path=ppt/slides/slide19.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F2581E-C3C3-4A28-A77F-A8B4E5D37B6E}"/>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19</a:t>
            </a:r>
          </a:p>
        </p:txBody>
      </p:sp>
      <p:sp>
        <p:nvSpPr>
          <p:cNvPr id="2" name="">
            <a:extLst xmlns:a="http://schemas.openxmlformats.org/drawingml/2006/main">
              <a:ext uri="{FF2B5EF4-FFF2-40B4-BE49-F238E27FC236}">
                <a16:creationId xmlns:a16="http://schemas.microsoft.com/office/drawing/2014/main" id="{FC972653-91D9-4E36-9737-CF2FA0DF7657}"/>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The wider marketplace</a:t>
            </a:r>
          </a:p>
        </p:txBody>
      </p:sp>
      <p:sp>
        <p:nvSpPr>
          <p:cNvPr id="3" name="">
            <a:extLst xmlns:a="http://schemas.openxmlformats.org/drawingml/2006/main">
              <a:ext uri="{FF2B5EF4-FFF2-40B4-BE49-F238E27FC236}">
                <a16:creationId xmlns:a16="http://schemas.microsoft.com/office/drawing/2014/main" id="{29EF83E3-DE8C-46FE-9090-3FB09474E5A4}"/>
              </a:ext>
            </a:extLst>
          </p:cNvPr>
          <p:cNvSpPr>
            <a:spLocks xmlns:a="http://schemas.openxmlformats.org/drawingml/2006/main" noGrp="1"/>
          </p:cNvSpPr>
          <p:nvPr/>
        </p:nvSpPr>
        <p:spPr>
          <a:xfrm xmlns:a="http://schemas.openxmlformats.org/drawingml/2006/main">
            <a:off x="609600" y="16002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9475B"/>
                </a:solidFill>
                <a:latin typeface="DejaVu Sans"/>
                <a:ea typeface="DejaVu Sans"/>
                <a:cs typeface="DejaVu Sans"/>
              </a:defRPr>
            </a:pPr>
            <a:r>
              <a:rPr sz="2100" b="1">
                <a:solidFill>
                  <a:srgbClr val="29475B"/>
                </a:solidFill>
                <a:latin typeface="DejaVu Sans"/>
                <a:ea typeface="DejaVu Sans"/>
                <a:cs typeface="DejaVu Sans"/>
              </a:rPr>
              <a:t>Student opportunity</a:t>
            </a:r>
          </a:p>
        </p:txBody>
      </p:sp>
      <p:sp>
        <p:nvSpPr>
          <p:cNvPr id="4" name="">
            <a:extLst xmlns:a="http://schemas.openxmlformats.org/drawingml/2006/main">
              <a:ext uri="{FF2B5EF4-FFF2-40B4-BE49-F238E27FC236}">
                <a16:creationId xmlns:a16="http://schemas.microsoft.com/office/drawing/2014/main" id="{687E4682-CF12-4AE5-A5FC-504EB3F412D4}"/>
              </a:ext>
            </a:extLst>
          </p:cNvPr>
          <p:cNvSpPr>
            <a:spLocks xmlns:a="http://schemas.openxmlformats.org/drawingml/2006/main" noGrp="1"/>
          </p:cNvSpPr>
          <p:nvPr/>
        </p:nvSpPr>
        <p:spPr>
          <a:xfrm xmlns:a="http://schemas.openxmlformats.org/drawingml/2006/main">
            <a:off x="609600" y="2171700"/>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475B"/>
                </a:solidFill>
                <a:latin typeface="DejaVu Sans"/>
                <a:ea typeface="DejaVu Sans"/>
                <a:cs typeface="DejaVu Sans"/>
              </a:defRPr>
            </a:pPr>
            <a:r>
              <a:rPr sz="1800" b="0">
                <a:solidFill>
                  <a:srgbClr val="29475B"/>
                </a:solidFill>
                <a:latin typeface="DejaVu Sans"/>
                <a:ea typeface="DejaVu Sans"/>
                <a:cs typeface="DejaVu Sans"/>
              </a:rPr>
              <a:t>Unmet requests help student businesses decide what to offer. Sellers receive practical guidance in their own workspace.</a:t>
            </a:r>
          </a:p>
        </p:txBody>
      </p:sp>
      <p:sp>
        <p:nvSpPr>
          <p:cNvPr id="5" name="">
            <a:extLst xmlns:a="http://schemas.openxmlformats.org/drawingml/2006/main">
              <a:ext uri="{FF2B5EF4-FFF2-40B4-BE49-F238E27FC236}">
                <a16:creationId xmlns:a16="http://schemas.microsoft.com/office/drawing/2014/main" id="{3D87BA08-D2E1-4FEB-A5D1-D294DD19A1D2}"/>
              </a:ext>
            </a:extLst>
          </p:cNvPr>
          <p:cNvSpPr>
            <a:spLocks xmlns:a="http://schemas.openxmlformats.org/drawingml/2006/main" noGrp="1"/>
          </p:cNvSpPr>
          <p:nvPr/>
        </p:nvSpPr>
        <p:spPr>
          <a:xfrm xmlns:a="http://schemas.openxmlformats.org/drawingml/2006/main">
            <a:off x="6429375" y="16002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9475B"/>
                </a:solidFill>
                <a:latin typeface="DejaVu Sans"/>
                <a:ea typeface="DejaVu Sans"/>
                <a:cs typeface="DejaVu Sans"/>
              </a:defRPr>
            </a:pPr>
            <a:r>
              <a:rPr sz="2100" b="1">
                <a:solidFill>
                  <a:srgbClr val="29475B"/>
                </a:solidFill>
                <a:latin typeface="DejaVu Sans"/>
                <a:ea typeface="DejaVu Sans"/>
                <a:cs typeface="DejaVu Sans"/>
              </a:rPr>
              <a:t>Operations workspace</a:t>
            </a:r>
          </a:p>
        </p:txBody>
      </p:sp>
      <p:sp>
        <p:nvSpPr>
          <p:cNvPr id="6" name="">
            <a:extLst xmlns:a="http://schemas.openxmlformats.org/drawingml/2006/main">
              <a:ext uri="{FF2B5EF4-FFF2-40B4-BE49-F238E27FC236}">
                <a16:creationId xmlns:a16="http://schemas.microsoft.com/office/drawing/2014/main" id="{099FDC3A-13D9-4AFF-91EB-172601709B17}"/>
              </a:ext>
            </a:extLst>
          </p:cNvPr>
          <p:cNvSpPr>
            <a:spLocks xmlns:a="http://schemas.openxmlformats.org/drawingml/2006/main" noGrp="1"/>
          </p:cNvSpPr>
          <p:nvPr/>
        </p:nvSpPr>
        <p:spPr>
          <a:xfrm xmlns:a="http://schemas.openxmlformats.org/drawingml/2006/main">
            <a:off x="6429375" y="2171700"/>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475B"/>
                </a:solidFill>
                <a:latin typeface="DejaVu Sans"/>
                <a:ea typeface="DejaVu Sans"/>
                <a:cs typeface="DejaVu Sans"/>
              </a:defRPr>
            </a:pPr>
            <a:r>
              <a:rPr sz="1800" b="0">
                <a:solidFill>
                  <a:srgbClr val="29475B"/>
                </a:solidFill>
                <a:latin typeface="DejaVu Sans"/>
                <a:ea typeface="DejaVu Sans"/>
                <a:cs typeface="DejaVu Sans"/>
              </a:rPr>
              <a:t>Hub staff manage package custody. Authorised teams handle transfers, disputes, finance and incubation support.</a:t>
            </a:r>
          </a:p>
        </p:txBody>
      </p:sp>
      <p:sp>
        <p:nvSpPr>
          <p:cNvPr id="7" name="">
            <a:extLst xmlns:a="http://schemas.openxmlformats.org/drawingml/2006/main">
              <a:ext uri="{FF2B5EF4-FFF2-40B4-BE49-F238E27FC236}">
                <a16:creationId xmlns:a16="http://schemas.microsoft.com/office/drawing/2014/main" id="{BE9D947D-3CEA-4263-BF22-C09152FAF854}"/>
              </a:ext>
            </a:extLst>
          </p:cNvPr>
          <p:cNvSpPr>
            <a:spLocks xmlns:a="http://schemas.openxmlformats.org/drawingml/2006/main" noGrp="1"/>
          </p:cNvSpPr>
          <p:nvPr/>
        </p:nvSpPr>
        <p:spPr>
          <a:xfrm xmlns:a="http://schemas.openxmlformats.org/drawingml/2006/main">
            <a:off x="609600" y="48291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9475B"/>
                </a:solidFill>
                <a:latin typeface="DejaVu Sans"/>
                <a:ea typeface="DejaVu Sans"/>
                <a:cs typeface="DejaVu Sans"/>
              </a:defRPr>
            </a:pPr>
            <a:r>
              <a:rPr sz="2100" b="0">
                <a:solidFill>
                  <a:srgbClr val="29475B"/>
                </a:solidFill>
                <a:latin typeface="DejaVu Sans"/>
                <a:ea typeface="DejaVu Sans"/>
                <a:cs typeface="DejaVu Sans"/>
              </a:rPr>
              <a:t>The same visual language extends across roles, while each workspace shows only the information that role needs.</a:t>
            </a:r>
          </a:p>
        </p:txBody>
      </p:sp>
    </p:spTree>
    <p:extLst>
      <p:ext uri="{BB962C8B-B14F-4D97-AF65-F5344CB8AC3E}">
        <p14:creationId xmlns:p14="http://schemas.microsoft.com/office/powerpoint/2010/main" val="757848976"/>
      </p:ext>
    </p:extLst>
  </p:cSld>
</p:sld>
</file>

<file path=ppt/slides/slide2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DF18F30-97B9-40B4-B90F-70A9E3462A08}"/>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20</a:t>
            </a:r>
          </a:p>
        </p:txBody>
      </p:sp>
      <p:sp>
        <p:nvSpPr>
          <p:cNvPr id="2" name="">
            <a:extLst xmlns:a="http://schemas.openxmlformats.org/drawingml/2006/main">
              <a:ext uri="{FF2B5EF4-FFF2-40B4-BE49-F238E27FC236}">
                <a16:creationId xmlns:a16="http://schemas.microsoft.com/office/drawing/2014/main" id="{0E133CCC-21C5-46CA-9AA9-8911778A3075}"/>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From concept to launch assets</a:t>
            </a:r>
          </a:p>
        </p:txBody>
      </p:sp>
      <p:graphicFrame>
        <p:nvGraphicFramePr>
          <p:cNvPr id="7" name=""/>
          <p:cNvGraphicFramePr/>
          <p:nvPr/>
        </p:nvGraphicFramePr>
        <p:xfrm>
          <a:off xmlns:a="http://schemas.openxmlformats.org/drawingml/2006/main" x="609600" y="1695450"/>
          <a:ext xmlns:a="http://schemas.openxmlformats.org/drawingml/2006/main" cx="10972800" cy="3381375"/>
        </p:xfrm>
        <a:graphic xmlns:a="http://schemas.openxmlformats.org/drawingml/2006/main">
          <a:graphicData uri="http://schemas.openxmlformats.org/drawingml/2006/table">
            <a:tbl>
              <a:tblPr/>
              <a:tblGrid>
                <a:gridCol w="5257800"/>
                <a:gridCol w="5715000"/>
              </a:tblGrid>
              <a:tr h="676275">
                <a:tc>
                  <a:txBody>
                    <a:bodyPr/>
                    <a:lstStyle/>
                    <a:p>
                      <a:r>
                        <a:rPr sz="1650" b="1">
                          <a:solidFill>
                            <a:srgbClr val="FAF8F2"/>
                          </a:solidFill>
                          <a:latin typeface="DejaVu Sans"/>
                          <a:ea typeface="DejaVu Sans"/>
                          <a:cs typeface="DejaVu Sans"/>
                        </a:rPr>
                        <a:t>Included here</a:t>
                      </a:r>
                    </a:p>
                  </a:txBody>
                  <a:tcPr marL="91440" marR="91440" marT="45720" marB="45720">
                    <a:solidFill>
                      <a:srgbClr val="29475B"/>
                    </a:solidFill>
                  </a:tcPr>
                </a:tc>
                <a:tc>
                  <a:txBody>
                    <a:bodyPr/>
                    <a:lstStyle/>
                    <a:p>
                      <a:r>
                        <a:rPr sz="1650" b="1">
                          <a:solidFill>
                            <a:srgbClr val="FAF8F2"/>
                          </a:solidFill>
                          <a:latin typeface="DejaVu Sans"/>
                          <a:ea typeface="DejaVu Sans"/>
                          <a:cs typeface="DejaVu Sans"/>
                        </a:rPr>
                        <a:t>Next production step</a:t>
                      </a:r>
                    </a:p>
                  </a:txBody>
                  <a:tcPr marL="91440" marR="91440" marT="45720" marB="45720">
                    <a:solidFill>
                      <a:srgbClr val="29475B"/>
                    </a:solidFill>
                  </a:tcPr>
                </a:tc>
              </a:tr>
              <a:tr h="676275">
                <a:tc>
                  <a:txBody>
                    <a:bodyPr/>
                    <a:lstStyle/>
                    <a:p>
                      <a:r>
                        <a:rPr sz="1650" b="0">
                          <a:solidFill>
                            <a:srgbClr val="29475B"/>
                          </a:solidFill>
                          <a:latin typeface="DejaVu Sans"/>
                          <a:ea typeface="DejaVu Sans"/>
                          <a:cs typeface="DejaVu Sans"/>
                        </a:rPr>
                        <a:t>Chosen logo and app icon direction</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Vector masters and small-size icon exports</a:t>
                      </a:r>
                    </a:p>
                  </a:txBody>
                  <a:tcPr marL="91440" marR="91440" marT="45720" marB="45720">
                    <a:solidFill>
                      <a:srgbClr val="FAF8F2"/>
                    </a:solidFill>
                  </a:tcPr>
                </a:tc>
              </a:tr>
              <a:tr h="676275">
                <a:tc>
                  <a:txBody>
                    <a:bodyPr/>
                    <a:lstStyle/>
                    <a:p>
                      <a:r>
                        <a:rPr sz="1650" b="0">
                          <a:solidFill>
                            <a:srgbClr val="29475B"/>
                          </a:solidFill>
                          <a:latin typeface="DejaVu Sans"/>
                          <a:ea typeface="DejaVu Sans"/>
                          <a:cs typeface="DejaVu Sans"/>
                        </a:rPr>
                        <a:t>Colour and typography guidance</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Exact UI tokens and contrast checks</a:t>
                      </a:r>
                    </a:p>
                  </a:txBody>
                  <a:tcPr marL="91440" marR="91440" marT="45720" marB="45720">
                    <a:solidFill>
                      <a:srgbClr val="FAF8F2"/>
                    </a:solidFill>
                  </a:tcPr>
                </a:tc>
              </a:tr>
              <a:tr h="676275">
                <a:tc>
                  <a:txBody>
                    <a:bodyPr/>
                    <a:lstStyle/>
                    <a:p>
                      <a:r>
                        <a:rPr sz="1650" b="0">
                          <a:solidFill>
                            <a:srgbClr val="29475B"/>
                          </a:solidFill>
                          <a:latin typeface="DejaVu Sans"/>
                          <a:ea typeface="DejaVu Sans"/>
                          <a:cs typeface="DejaVu Sans"/>
                        </a:rPr>
                        <a:t>Packaging and campus mockups</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Supplier dielines and print proofs</a:t>
                      </a:r>
                    </a:p>
                  </a:txBody>
                  <a:tcPr marL="91440" marR="91440" marT="45720" marB="45720">
                    <a:solidFill>
                      <a:srgbClr val="FAF8F2"/>
                    </a:solidFill>
                  </a:tcPr>
                </a:tc>
              </a:tr>
              <a:tr h="676275">
                <a:tc>
                  <a:txBody>
                    <a:bodyPr/>
                    <a:lstStyle/>
                    <a:p>
                      <a:r>
                        <a:rPr sz="1650" b="0">
                          <a:solidFill>
                            <a:srgbClr val="29475B"/>
                          </a:solidFill>
                          <a:latin typeface="DejaVu Sans"/>
                          <a:ea typeface="DejaVu Sans"/>
                          <a:cs typeface="DejaVu Sans"/>
                        </a:rPr>
                        <a:t>App canvases and navigation</a:t>
                      </a:r>
                    </a:p>
                  </a:txBody>
                  <a:tcPr marL="91440" marR="91440" marT="45720" marB="45720">
                    <a:solidFill>
                      <a:srgbClr val="FAF8F2"/>
                    </a:solidFill>
                  </a:tcPr>
                </a:tc>
                <a:tc>
                  <a:txBody>
                    <a:bodyPr/>
                    <a:lstStyle/>
                    <a:p>
                      <a:r>
                        <a:rPr sz="1650" b="0">
                          <a:solidFill>
                            <a:srgbClr val="29475B"/>
                          </a:solidFill>
                          <a:latin typeface="DejaVu Sans"/>
                          <a:ea typeface="DejaVu Sans"/>
                          <a:cs typeface="DejaVu Sans"/>
                        </a:rPr>
                        <a:t>Editable prototype, real data and state validation</a:t>
                      </a:r>
                    </a:p>
                  </a:txBody>
                  <a:tcPr marL="91440" marR="91440" marT="45720" marB="45720">
                    <a:solidFill>
                      <a:srgbClr val="FAF8F2"/>
                    </a:solidFill>
                  </a:tcPr>
                </a:tc>
              </a:tr>
            </a:tbl>
          </a:graphicData>
        </a:graphic>
      </p:graphicFrame>
      <p:sp>
        <p:nvSpPr>
          <p:cNvPr id="4" name="">
            <a:extLst xmlns:a="http://schemas.openxmlformats.org/drawingml/2006/main">
              <a:ext uri="{FF2B5EF4-FFF2-40B4-BE49-F238E27FC236}">
                <a16:creationId xmlns:a16="http://schemas.microsoft.com/office/drawing/2014/main" id="{02111DAA-B4AC-47B3-97A1-2D431173EFC7}"/>
              </a:ext>
            </a:extLst>
          </p:cNvPr>
          <p:cNvSpPr>
            <a:spLocks xmlns:a="http://schemas.openxmlformats.org/drawingml/2006/main" noGrp="1"/>
          </p:cNvSpPr>
          <p:nvPr/>
        </p:nvSpPr>
        <p:spPr>
          <a:xfrm xmlns:a="http://schemas.openxmlformats.org/drawingml/2006/main">
            <a:off x="609600" y="55435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7487"/>
                </a:solidFill>
                <a:latin typeface="DejaVu Sans"/>
                <a:ea typeface="DejaVu Sans"/>
                <a:cs typeface="DejaVu Sans"/>
              </a:defRPr>
            </a:pPr>
            <a:r>
              <a:rPr sz="1725" b="0">
                <a:solidFill>
                  <a:srgbClr val="567487"/>
                </a:solidFill>
                <a:latin typeface="DejaVu Sans"/>
                <a:ea typeface="DejaVu Sans"/>
                <a:cs typeface="DejaVu Sans"/>
              </a:rPr>
              <a:t>The slides are editable. Mockups and logo artwork are raster images, not production vectors or working screens.</a:t>
            </a:r>
          </a:p>
        </p:txBody>
      </p:sp>
    </p:spTree>
    <p:extLst>
      <p:ext uri="{BB962C8B-B14F-4D97-AF65-F5344CB8AC3E}">
        <p14:creationId xmlns:p14="http://schemas.microsoft.com/office/powerpoint/2010/main" val="1845157253"/>
      </p:ext>
    </p:extLst>
  </p:cSld>
</p:sld>
</file>

<file path=ppt/slides/slide2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07064E-B17F-4BA2-BA62-37B8DF152814}"/>
              </a:ext>
            </a:extLst>
          </p:cNvPr>
          <p:cNvSpPr>
            <a:spLocks xmlns:a="http://schemas.openxmlformats.org/drawingml/2006/main" noGrp="1"/>
          </p:cNvSpPr>
          <p:nvPr/>
        </p:nvSpPr>
        <p:spPr>
          <a:xfrm xmlns:a="http://schemas.openxmlformats.org/drawingml/2006/main">
            <a:off x="113347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7487"/>
                </a:solidFill>
                <a:latin typeface="DejaVu Sans"/>
                <a:ea typeface="DejaVu Sans"/>
                <a:cs typeface="DejaVu Sans"/>
              </a:defRPr>
            </a:pPr>
            <a:r>
              <a:rPr sz="1050" b="0">
                <a:solidFill>
                  <a:srgbClr val="567487"/>
                </a:solidFill>
                <a:latin typeface="DejaVu Sans"/>
                <a:ea typeface="DejaVu Sans"/>
                <a:cs typeface="DejaVu Sans"/>
              </a:rPr>
              <a:t>21</a:t>
            </a:r>
          </a:p>
        </p:txBody>
      </p:sp>
      <p:sp>
        <p:nvSpPr>
          <p:cNvPr id="2" name="">
            <a:extLst xmlns:a="http://schemas.openxmlformats.org/drawingml/2006/main">
              <a:ext uri="{FF2B5EF4-FFF2-40B4-BE49-F238E27FC236}">
                <a16:creationId xmlns:a16="http://schemas.microsoft.com/office/drawing/2014/main" id="{DDA21775-CD3A-4170-854E-1E1B48D8143F}"/>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9475B"/>
                </a:solidFill>
                <a:latin typeface="DejaVu Sans"/>
                <a:ea typeface="DejaVu Sans"/>
                <a:cs typeface="DejaVu Sans"/>
              </a:defRPr>
            </a:pPr>
            <a:r>
              <a:rPr sz="3000" b="1">
                <a:solidFill>
                  <a:srgbClr val="29475B"/>
                </a:solidFill>
                <a:latin typeface="DejaVu Sans"/>
                <a:ea typeface="DejaVu Sans"/>
                <a:cs typeface="DejaVu Sans"/>
              </a:rPr>
              <a:t>Source and concept notes</a:t>
            </a:r>
          </a:p>
        </p:txBody>
      </p:sp>
      <p:sp>
        <p:nvSpPr>
          <p:cNvPr id="3" name="">
            <a:extLst xmlns:a="http://schemas.openxmlformats.org/drawingml/2006/main">
              <a:ext uri="{FF2B5EF4-FFF2-40B4-BE49-F238E27FC236}">
                <a16:creationId xmlns:a16="http://schemas.microsoft.com/office/drawing/2014/main" id="{B31B3A7A-59D4-42DF-B382-FB6EEEA5DA91}"/>
              </a:ext>
            </a:extLst>
          </p:cNvPr>
          <p:cNvSpPr>
            <a:spLocks xmlns:a="http://schemas.openxmlformats.org/drawingml/2006/main" noGrp="1"/>
          </p:cNvSpPr>
          <p:nvPr/>
        </p:nvSpPr>
        <p:spPr>
          <a:xfrm xmlns:a="http://schemas.openxmlformats.org/drawingml/2006/main">
            <a:off x="609600" y="14287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9475B"/>
                </a:solidFill>
                <a:latin typeface="DejaVu Sans"/>
                <a:ea typeface="DejaVu Sans"/>
                <a:cs typeface="DejaVu Sans"/>
              </a:defRPr>
            </a:pPr>
            <a:r>
              <a:rPr sz="2100" b="1">
                <a:solidFill>
                  <a:srgbClr val="29475B"/>
                </a:solidFill>
                <a:latin typeface="DejaVu Sans"/>
                <a:ea typeface="DejaVu Sans"/>
                <a:cs typeface="DejaVu Sans"/>
              </a:rPr>
              <a:t>Project foundations</a:t>
            </a:r>
          </a:p>
        </p:txBody>
      </p:sp>
      <p:sp>
        <p:nvSpPr>
          <p:cNvPr id="4" name="">
            <a:extLst xmlns:a="http://schemas.openxmlformats.org/drawingml/2006/main">
              <a:ext uri="{FF2B5EF4-FFF2-40B4-BE49-F238E27FC236}">
                <a16:creationId xmlns:a16="http://schemas.microsoft.com/office/drawing/2014/main" id="{21BC0E87-6230-4191-A7FA-4605CE0E5276}"/>
              </a:ext>
            </a:extLst>
          </p:cNvPr>
          <p:cNvSpPr>
            <a:spLocks xmlns:a="http://schemas.openxmlformats.org/drawingml/2006/main" noGrp="1"/>
          </p:cNvSpPr>
          <p:nvPr/>
        </p:nvSpPr>
        <p:spPr>
          <a:xfrm xmlns:a="http://schemas.openxmlformats.org/drawingml/2006/main">
            <a:off x="609600" y="2047875"/>
            <a:ext cx="10668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475B"/>
                </a:solidFill>
                <a:latin typeface="DejaVu Sans"/>
                <a:ea typeface="DejaVu Sans"/>
                <a:cs typeface="DejaVu Sans"/>
              </a:defRPr>
            </a:pPr>
            <a:r>
              <a:rPr sz="1725" b="0">
                <a:solidFill>
                  <a:srgbClr val="29475B"/>
                </a:solidFill>
                <a:latin typeface="DejaVu Sans"/>
                <a:ea typeface="DejaVu Sans"/>
                <a:cs typeface="DejaVu Sans"/>
              </a:rPr>
              <a:t>EduHackers Full Marketplace Research Dossier (2)</a:t>
            </a:r>
          </a:p>
          <a:p xmlns:a="http://schemas.openxmlformats.org/drawingml/2006/main">
            <a:pPr>
              <a:defRPr sz="1725" b="0">
                <a:solidFill>
                  <a:srgbClr val="29475B"/>
                </a:solidFill>
                <a:latin typeface="DejaVu Sans"/>
                <a:ea typeface="DejaVu Sans"/>
                <a:cs typeface="DejaVu Sans"/>
              </a:defRPr>
            </a:pPr>
            <a:r>
              <a:rPr sz="1725" b="0">
                <a:solidFill>
                  <a:srgbClr val="29475B"/>
                </a:solidFill>
                <a:latin typeface="DejaVu Sans"/>
                <a:ea typeface="DejaVu Sans"/>
                <a:cs typeface="DejaVu Sans"/>
              </a:rPr>
              <a:t>Executive summary and marketplace / incubation scope</a:t>
            </a:r>
          </a:p>
          <a:p xmlns:a="http://schemas.openxmlformats.org/drawingml/2006/main">
            <a:r>
              <a:t/>
            </a:r>
          </a:p>
          <a:p xmlns:a="http://schemas.openxmlformats.org/drawingml/2006/main">
            <a:pPr>
              <a:defRPr sz="1725" b="0">
                <a:solidFill>
                  <a:srgbClr val="29475B"/>
                </a:solidFill>
                <a:latin typeface="DejaVu Sans"/>
                <a:ea typeface="DejaVu Sans"/>
                <a:cs typeface="DejaVu Sans"/>
              </a:defRPr>
            </a:pPr>
            <a:r>
              <a:rPr sz="1725" b="0">
                <a:solidFill>
                  <a:srgbClr val="29475B"/>
                </a:solidFill>
                <a:latin typeface="DejaVu Sans"/>
                <a:ea typeface="DejaVu Sans"/>
                <a:cs typeface="DejaVu Sans"/>
              </a:rPr>
              <a:t>EduHackers Developer UX Workflow Wireframes Research Dossier (2)</a:t>
            </a:r>
          </a:p>
          <a:p xmlns:a="http://schemas.openxmlformats.org/drawingml/2006/main">
            <a:pPr>
              <a:defRPr sz="1725" b="0">
                <a:solidFill>
                  <a:srgbClr val="29475B"/>
                </a:solidFill>
                <a:latin typeface="DejaVu Sans"/>
                <a:ea typeface="DejaVu Sans"/>
                <a:cs typeface="DejaVu Sans"/>
              </a:defRPr>
            </a:pPr>
            <a:r>
              <a:rPr sz="1725" b="0">
                <a:solidFill>
                  <a:srgbClr val="29475B"/>
                </a:solidFill>
                <a:latin typeface="DejaVu Sans"/>
                <a:ea typeface="DejaVu Sans"/>
                <a:cs typeface="DejaVu Sans"/>
              </a:rPr>
              <a:t>Pages 11–14: role modes, seller dispatch, courier and hub flows</a:t>
            </a:r>
          </a:p>
        </p:txBody>
      </p:sp>
      <p:sp>
        <p:nvSpPr>
          <p:cNvPr id="5" name="">
            <a:extLst xmlns:a="http://schemas.openxmlformats.org/drawingml/2006/main">
              <a:ext uri="{FF2B5EF4-FFF2-40B4-BE49-F238E27FC236}">
                <a16:creationId xmlns:a16="http://schemas.microsoft.com/office/drawing/2014/main" id="{0A70D4B5-61B9-41EA-AB12-66E06DED1220}"/>
              </a:ext>
            </a:extLst>
          </p:cNvPr>
          <p:cNvSpPr>
            <a:spLocks xmlns:a="http://schemas.openxmlformats.org/drawingml/2006/main" noGrp="1"/>
          </p:cNvSpPr>
          <p:nvPr/>
        </p:nvSpPr>
        <p:spPr>
          <a:xfrm xmlns:a="http://schemas.openxmlformats.org/drawingml/2006/main">
            <a:off x="609600" y="44862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9475B"/>
                </a:solidFill>
                <a:latin typeface="DejaVu Sans"/>
                <a:ea typeface="DejaVu Sans"/>
                <a:cs typeface="DejaVu Sans"/>
              </a:defRPr>
            </a:pPr>
            <a:r>
              <a:rPr sz="2100" b="1">
                <a:solidFill>
                  <a:srgbClr val="29475B"/>
                </a:solidFill>
                <a:latin typeface="DejaVu Sans"/>
                <a:ea typeface="DejaVu Sans"/>
                <a:cs typeface="DejaVu Sans"/>
              </a:rPr>
              <a:t>Creative direction</a:t>
            </a:r>
          </a:p>
        </p:txBody>
      </p:sp>
      <p:sp>
        <p:nvSpPr>
          <p:cNvPr id="6" name="">
            <a:extLst xmlns:a="http://schemas.openxmlformats.org/drawingml/2006/main">
              <a:ext uri="{FF2B5EF4-FFF2-40B4-BE49-F238E27FC236}">
                <a16:creationId xmlns:a16="http://schemas.microsoft.com/office/drawing/2014/main" id="{468111C2-0BD7-4220-BE6F-8D34FDD1C671}"/>
              </a:ext>
            </a:extLst>
          </p:cNvPr>
          <p:cNvSpPr>
            <a:spLocks xmlns:a="http://schemas.openxmlformats.org/drawingml/2006/main" noGrp="1"/>
          </p:cNvSpPr>
          <p:nvPr/>
        </p:nvSpPr>
        <p:spPr>
          <a:xfrm xmlns:a="http://schemas.openxmlformats.org/drawingml/2006/main">
            <a:off x="609600" y="5057775"/>
            <a:ext cx="1066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475B"/>
                </a:solidFill>
                <a:latin typeface="DejaVu Sans"/>
                <a:ea typeface="DejaVu Sans"/>
                <a:cs typeface="DejaVu Sans"/>
              </a:defRPr>
            </a:pPr>
            <a:r>
              <a:rPr sz="1725" b="0">
                <a:solidFill>
                  <a:srgbClr val="29475B"/>
                </a:solidFill>
                <a:latin typeface="DejaVu Sans"/>
                <a:ea typeface="DejaVu Sans"/>
                <a:cs typeface="DejaVu Sans"/>
              </a:rPr>
              <a:t>Your selected Vossie wordmark and icon; the supplied Plato packaging reference; your direction to combine Uber-style functionality with Plato-style visuals. All application mockups are illustrative concepts.</a:t>
            </a:r>
          </a:p>
        </p:txBody>
      </p:sp>
    </p:spTree>
    <p:extLst>
      <p:ext uri="{BB962C8B-B14F-4D97-AF65-F5344CB8AC3E}">
        <p14:creationId xmlns:p14="http://schemas.microsoft.com/office/powerpoint/2010/main" val="16774049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2026-09-20T23:48:33.8700000Z</dcterms:created>
  <dcterms:modified xsi:type="dcterms:W3CDTF">2026-09-20T23:48:33.8700000Z</dcterms:modified>
</coreProperties>
</file>