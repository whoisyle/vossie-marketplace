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C756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C756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2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EDUHACKERS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321040" y="2011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 build research - not final implementation spec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11480" y="502920"/>
            <a:ext cx="11384280" cy="0"/>
          </a:xfrm>
          <a:prstGeom prst="line">
            <a:avLst/>
          </a:prstGeom>
          <a:noFill/>
          <a:ln w="12700">
            <a:solidFill>
              <a:srgbClr val="D7CCB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0160">
            <a:solidFill>
              <a:srgbClr val="D7CCB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6539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6861"/>
                </a:solidFill>
              </a:rPr>
              <a:t>Scope: all Eduvos campuses | Build model must be validated by user research, policy, legal and payment-provider checks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594360" y="658368"/>
            <a:ext cx="6675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383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EduHackers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12648" y="1225296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25A"/>
                </a:solidFill>
              </a:rPr>
              <a:t>Developer Build &amp; Technical Research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1719072"/>
            <a:ext cx="5303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6861"/>
                </a:solidFill>
              </a:rPr>
              <a:t>How the marketplace could be built, validated, versioned, tested and integrated - research only, not a final technical commitment.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" y="2779776"/>
            <a:ext cx="4206240" cy="1335024"/>
          </a:xfrm>
          <a:prstGeom prst="roundRect">
            <a:avLst>
              <a:gd name="adj" fmla="val 5479"/>
            </a:avLst>
          </a:prstGeom>
          <a:solidFill>
            <a:srgbClr val="EFE8DA"/>
          </a:solidFill>
          <a:ln w="9525">
            <a:solidFill>
              <a:srgbClr val="D7CCB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2926080"/>
            <a:ext cx="391363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3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8096" y="3255264"/>
            <a:ext cx="3913632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Eduvos campuses • verified buyers and sellers • protected payments • delivery • events • rentals • AI compliance • Incubation Hub intelligence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47488" y="2779776"/>
            <a:ext cx="4206240" cy="1335024"/>
          </a:xfrm>
          <a:prstGeom prst="roundRect">
            <a:avLst>
              <a:gd name="adj" fmla="val 5479"/>
            </a:avLst>
          </a:prstGeom>
          <a:solidFill>
            <a:srgbClr val="EFE8DA"/>
          </a:solidFill>
          <a:ln w="9525">
            <a:solidFill>
              <a:srgbClr val="D7CCB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3792" y="2926080"/>
            <a:ext cx="391363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3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93792" y="3255264"/>
            <a:ext cx="3913632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 research • architecture • API map • wireframes • GitHub workflow • CI/CD • security/privacy • build roadmap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595360" y="4434840"/>
            <a:ext cx="3017520" cy="502920"/>
          </a:xfrm>
          <a:prstGeom prst="roundRect">
            <a:avLst>
              <a:gd name="adj" fmla="val 21818"/>
            </a:avLst>
          </a:prstGeom>
          <a:solidFill>
            <a:srgbClr val="243831"/>
          </a:solidFill>
          <a:ln w="12700">
            <a:solidFill>
              <a:srgbClr val="24383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15400" y="4590288"/>
            <a:ext cx="23774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Team: EduHackers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6172200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861"/>
                </a:solidFill>
              </a:rPr>
              <a:t>Prepared for Paballo Kali - Developer / Research Lead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C756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2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EDUHACKERS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321040" y="2011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 build research - not final implementation spec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11480" y="502920"/>
            <a:ext cx="11384280" cy="0"/>
          </a:xfrm>
          <a:prstGeom prst="line">
            <a:avLst/>
          </a:prstGeom>
          <a:noFill/>
          <a:ln w="12700">
            <a:solidFill>
              <a:srgbClr val="D7CCB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7665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1D23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this technical research must answer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0160">
            <a:solidFill>
              <a:srgbClr val="D7CCB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6539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6861"/>
                </a:solidFill>
              </a:rPr>
              <a:t>Scope: all Eduvos campuses | Build model must be validated by user research, policy, legal and payment-provider checks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594360" y="164592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FFDF7"/>
          </a:solidFill>
          <a:ln w="9525">
            <a:solidFill>
              <a:srgbClr val="D7CC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" y="1792224"/>
            <a:ext cx="309067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3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are we building?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0664" y="2121408"/>
            <a:ext cx="3090672" cy="7863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campus-first marketplace ecosystem across products, services, rentals, digital products, events, gigs, delivery and Incubation Hub intelligence.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4389120" y="164592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FFDF7"/>
          </a:solidFill>
          <a:ln w="9525">
            <a:solidFill>
              <a:srgbClr val="D7CCB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35424" y="1792224"/>
            <a:ext cx="309067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3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What must integrate?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35424" y="2121408"/>
            <a:ext cx="3090672" cy="7863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Identity, listings, search, checkout, protected payments, delivery, disputes, AI moderation, analytics, notifications and staff dashboards.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8183880" y="164592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FFDF7"/>
          </a:solidFill>
          <a:ln w="9525">
            <a:solidFill>
              <a:srgbClr val="D7CCB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0184" y="1792224"/>
            <a:ext cx="309067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3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How do we build safely?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30184" y="2121408"/>
            <a:ext cx="3090672" cy="7863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modular architecture, GitHub workflows, OpenAPI contracts, RBAC, CI checks, testing gates and privacy-by-design boundaries.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914400" y="3840480"/>
            <a:ext cx="10332720" cy="1060704"/>
          </a:xfrm>
          <a:prstGeom prst="roundRect">
            <a:avLst>
              <a:gd name="adj" fmla="val 6897"/>
            </a:avLst>
          </a:prstGeom>
          <a:solidFill>
            <a:srgbClr val="EFE8DA"/>
          </a:solidFill>
          <a:ln w="9525">
            <a:solidFill>
              <a:srgbClr val="D7CCB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0704" y="3986784"/>
            <a:ext cx="1004011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3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posture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60704" y="4315968"/>
            <a:ext cx="10040112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recommendation is a hypothesis until tested with Eduvos users, payment providers, institutional policy, security review and prototype evidence.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C756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2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EDUHACKERS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321040" y="2011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 build research - not final implementation spec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11480" y="502920"/>
            <a:ext cx="11384280" cy="0"/>
          </a:xfrm>
          <a:prstGeom prst="line">
            <a:avLst/>
          </a:prstGeom>
          <a:noFill/>
          <a:ln w="12700">
            <a:solidFill>
              <a:srgbClr val="D7CCB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7665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1D23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technical thesis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0160">
            <a:solidFill>
              <a:srgbClr val="D7CCB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6539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6861"/>
                </a:solidFill>
              </a:rPr>
              <a:t>Scope: all Eduvos campuses | Build model must be validated by user research, policy, legal and payment-provider checks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1920240" y="2743200"/>
            <a:ext cx="1097280" cy="0"/>
          </a:xfrm>
          <a:prstGeom prst="line">
            <a:avLst/>
          </a:prstGeom>
          <a:noFill/>
          <a:ln w="16510">
            <a:solidFill>
              <a:srgbClr val="66725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389120" y="2743200"/>
            <a:ext cx="1097280" cy="0"/>
          </a:xfrm>
          <a:prstGeom prst="line">
            <a:avLst/>
          </a:prstGeom>
          <a:noFill/>
          <a:ln w="16510">
            <a:solidFill>
              <a:srgbClr val="66725A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858000" y="2743200"/>
            <a:ext cx="1097280" cy="0"/>
          </a:xfrm>
          <a:prstGeom prst="line">
            <a:avLst/>
          </a:prstGeom>
          <a:noFill/>
          <a:ln w="16510">
            <a:solidFill>
              <a:srgbClr val="66725A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326880" y="2743200"/>
            <a:ext cx="1097280" cy="0"/>
          </a:xfrm>
          <a:prstGeom prst="line">
            <a:avLst/>
          </a:prstGeom>
          <a:noFill/>
          <a:ln w="16510">
            <a:solidFill>
              <a:srgbClr val="66725A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85800" y="2084832"/>
            <a:ext cx="1417320" cy="1234440"/>
          </a:xfrm>
          <a:prstGeom prst="roundRect">
            <a:avLst>
              <a:gd name="adj" fmla="val 6667"/>
            </a:avLst>
          </a:prstGeom>
          <a:solidFill>
            <a:srgbClr val="EFE8DA"/>
          </a:solidFill>
          <a:ln w="13970">
            <a:solidFill>
              <a:srgbClr val="6672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2231136"/>
            <a:ext cx="1271016" cy="10881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/ request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2971800" y="2084832"/>
            <a:ext cx="141732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6672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44952" y="2231136"/>
            <a:ext cx="1271016" cy="10881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Supply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listings / slots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5440680" y="2084832"/>
            <a:ext cx="141732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6672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13832" y="2231136"/>
            <a:ext cx="1271016" cy="10881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 / score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7909560" y="2084832"/>
            <a:ext cx="141732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6672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82712" y="2231136"/>
            <a:ext cx="1271016" cy="10881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protected payment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10058400" y="2084832"/>
            <a:ext cx="1417320" cy="1234440"/>
          </a:xfrm>
          <a:prstGeom prst="roundRect">
            <a:avLst>
              <a:gd name="adj" fmla="val 6667"/>
            </a:avLst>
          </a:prstGeom>
          <a:solidFill>
            <a:srgbClr val="EFE8DA"/>
          </a:solidFill>
          <a:ln w="13970">
            <a:solidFill>
              <a:srgbClr val="6672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31552" y="2231136"/>
            <a:ext cx="1271016" cy="10881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 intelligence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868680" y="4206240"/>
            <a:ext cx="10424160" cy="914400"/>
          </a:xfrm>
          <a:prstGeom prst="roundRect">
            <a:avLst>
              <a:gd name="adj" fmla="val 8000"/>
            </a:avLst>
          </a:prstGeom>
          <a:solidFill>
            <a:srgbClr val="F8F5ED"/>
          </a:solidFill>
          <a:ln w="9525">
            <a:solidFill>
              <a:srgbClr val="D7CCB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14984" y="4352544"/>
            <a:ext cx="1013155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3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Architectural principle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14984" y="4681728"/>
            <a:ext cx="10131552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major user action should produce a safe business event that can support marketplace health, dispute resolution, analytics and Incubation Hub insight without exposing unnecessary personal data.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C756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2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EDUHACKERS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321040" y="2011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 build research - not final implementation spec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11480" y="502920"/>
            <a:ext cx="11384280" cy="0"/>
          </a:xfrm>
          <a:prstGeom prst="line">
            <a:avLst/>
          </a:prstGeom>
          <a:noFill/>
          <a:ln w="12700">
            <a:solidFill>
              <a:srgbClr val="D7CCB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7665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1D23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delivery model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0160">
            <a:solidFill>
              <a:srgbClr val="D7CCB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6539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6861"/>
                </a:solidFill>
              </a:rPr>
              <a:t>Scope: all Eduvos campuses | Build model must be validated by user research, policy, legal and payment-provider checks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640080" y="1691640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F8F5ED"/>
          </a:solidFill>
          <a:ln w="9525">
            <a:solidFill>
              <a:srgbClr val="D7CC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1837944"/>
            <a:ext cx="245059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3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1 - Web/PWA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86384" y="2167128"/>
            <a:ext cx="2450592" cy="8778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Next.js web app. Installable from browser. Strongest speed for Hack Jam. One frontend codebase. Works on desktop and mobile.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3611880" y="1691640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FFFDF7"/>
          </a:solidFill>
          <a:ln w="9525">
            <a:solidFill>
              <a:srgbClr val="D7CCB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58184" y="1837944"/>
            <a:ext cx="245059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3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2 - Mobile wrapper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58184" y="2167128"/>
            <a:ext cx="2450592" cy="8778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Expo/React Native or Capacitor only after PWA flows are validated. Use if push, camera, location and app-store distribution become essential.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6583680" y="1691640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FFFDF7"/>
          </a:solidFill>
          <a:ln w="9525">
            <a:solidFill>
              <a:srgbClr val="D7CCB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9984" y="1837944"/>
            <a:ext cx="245059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3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3 - Desktop install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729984" y="2167128"/>
            <a:ext cx="2450592" cy="8778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PWA desktop install first. Electron/Tauri only if offline workflows, native tray, local files or richer desktop features become necessary.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9555480" y="169164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EFE8DA"/>
          </a:solidFill>
          <a:ln w="9525">
            <a:solidFill>
              <a:srgbClr val="D7CCB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01784" y="1837944"/>
            <a:ext cx="171907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3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701784" y="2167128"/>
            <a:ext cx="1719072" cy="8778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is broad: protected payments, AI moderation, reels, events, delivery and dashboards. The team needs speed, shared code and easy deployment before native complexity.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777240" y="3931920"/>
            <a:ext cx="10607040" cy="308610"/>
          </a:xfrm>
          <a:prstGeom prst="rect">
            <a:avLst/>
          </a:prstGeom>
          <a:solidFill>
            <a:srgbClr val="243831"/>
          </a:solidFill>
          <a:ln w="7620">
            <a:solidFill>
              <a:srgbClr val="24383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3816" y="4005072"/>
            <a:ext cx="1836115" cy="21717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2723083" y="4005072"/>
            <a:ext cx="3108960" cy="21717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Strength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5905195" y="4005072"/>
            <a:ext cx="2896819" cy="21717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8875166" y="4005072"/>
            <a:ext cx="2472538" cy="21717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777240" y="4240530"/>
            <a:ext cx="10607040" cy="308610"/>
          </a:xfrm>
          <a:prstGeom prst="rect">
            <a:avLst/>
          </a:prstGeom>
          <a:solidFill>
            <a:srgbClr val="FFFFFF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3816" y="4295394"/>
            <a:ext cx="1836115" cy="23545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PWA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723083" y="4295394"/>
            <a:ext cx="3108960" cy="23545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Fastest all-device build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905195" y="4295394"/>
            <a:ext cx="2896819" cy="23545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Limited native depth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875166" y="4295394"/>
            <a:ext cx="2472538" cy="23545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here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77240" y="4549140"/>
            <a:ext cx="10607040" cy="308610"/>
          </a:xfrm>
          <a:prstGeom prst="rect">
            <a:avLst/>
          </a:prstGeom>
          <a:solidFill>
            <a:srgbClr val="F5F1E9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3816" y="4604004"/>
            <a:ext cx="1836115" cy="23545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 app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723083" y="4604004"/>
            <a:ext cx="3108960" cy="23545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mobile UX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905195" y="4604004"/>
            <a:ext cx="2896819" cy="23545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build overhead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875166" y="4604004"/>
            <a:ext cx="2472538" cy="23545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2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77240" y="4857750"/>
            <a:ext cx="10607040" cy="308610"/>
          </a:xfrm>
          <a:prstGeom prst="rect">
            <a:avLst/>
          </a:prstGeom>
          <a:solidFill>
            <a:srgbClr val="FFFFFF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3816" y="4912614"/>
            <a:ext cx="1836115" cy="23545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Electron/Tauri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723083" y="4912614"/>
            <a:ext cx="3108960" cy="23545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Desktop-first power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905195" y="4912614"/>
            <a:ext cx="2896819" cy="23545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Overkill for MVP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875166" y="4912614"/>
            <a:ext cx="2472538" cy="23545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Later if needed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C756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2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EDUHACKERS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321040" y="2011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 build research - not final implementation spec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11480" y="502920"/>
            <a:ext cx="11384280" cy="0"/>
          </a:xfrm>
          <a:prstGeom prst="line">
            <a:avLst/>
          </a:prstGeom>
          <a:noFill/>
          <a:ln w="12700">
            <a:solidFill>
              <a:srgbClr val="D7CCB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7665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1D23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Candidate stack research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0160">
            <a:solidFill>
              <a:srgbClr val="D7CCB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6539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6861"/>
                </a:solidFill>
              </a:rPr>
              <a:t>Scope: all Eduvos campuses | Build model must be validated by user research, policy, legal and payment-provider checks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594360" y="1517904"/>
            <a:ext cx="10972800" cy="542925"/>
          </a:xfrm>
          <a:prstGeom prst="rect">
            <a:avLst/>
          </a:prstGeom>
          <a:solidFill>
            <a:srgbClr val="243831"/>
          </a:solidFill>
          <a:ln w="7620">
            <a:solidFill>
              <a:srgbClr val="2438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" y="1591056"/>
            <a:ext cx="1463040" cy="45148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2167128" y="1591056"/>
            <a:ext cx="2889504" cy="45148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research option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5129784" y="1591056"/>
            <a:ext cx="3877056" cy="45148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9079992" y="1591056"/>
            <a:ext cx="2450592" cy="45148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validation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594360" y="2060829"/>
            <a:ext cx="10972800" cy="542925"/>
          </a:xfrm>
          <a:prstGeom prst="rect">
            <a:avLst/>
          </a:prstGeom>
          <a:solidFill>
            <a:srgbClr val="FFFFFF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2115693"/>
            <a:ext cx="1463040" cy="46977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167128" y="2115693"/>
            <a:ext cx="2889504" cy="46977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Next.js + TypeScript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129784" y="2115693"/>
            <a:ext cx="3877056" cy="46977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Web/PWA speed, shared routing, server actions/API routes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079992" y="2115693"/>
            <a:ext cx="2450592" cy="46977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team build fast?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2603754"/>
            <a:ext cx="10972800" cy="542925"/>
          </a:xfrm>
          <a:prstGeom prst="rect">
            <a:avLst/>
          </a:prstGeom>
          <a:solidFill>
            <a:srgbClr val="F5F1E9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" y="2658618"/>
            <a:ext cx="1463040" cy="46977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167128" y="2658618"/>
            <a:ext cx="2889504" cy="46977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Tailwind + shadcn/Radix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129784" y="2658618"/>
            <a:ext cx="3877056" cy="46977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Accessible components, fast design iteration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079992" y="2658618"/>
            <a:ext cx="2450592" cy="46977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Matches Figma system?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94360" y="3146679"/>
            <a:ext cx="10972800" cy="542925"/>
          </a:xfrm>
          <a:prstGeom prst="rect">
            <a:avLst/>
          </a:prstGeom>
          <a:solidFill>
            <a:srgbClr val="FFFFFF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" y="3201543"/>
            <a:ext cx="1463040" cy="46977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167128" y="3201543"/>
            <a:ext cx="2889504" cy="46977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Next.js API + Supabase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129784" y="3201543"/>
            <a:ext cx="3877056" cy="46977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Fewer moving parts for MVP; Postgres, Auth, Storage, Realtime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079992" y="3201543"/>
            <a:ext cx="2450592" cy="46977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RLS/RBAC correctness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94360" y="3689604"/>
            <a:ext cx="10972800" cy="542925"/>
          </a:xfrm>
          <a:prstGeom prst="rect">
            <a:avLst/>
          </a:prstGeom>
          <a:solidFill>
            <a:srgbClr val="F5F1E9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" y="3744468"/>
            <a:ext cx="1463040" cy="46977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167128" y="3744468"/>
            <a:ext cx="2889504" cy="46977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 + Prisma/Drizzle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129784" y="3744468"/>
            <a:ext cx="3877056" cy="46977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Relational marketplace domain + migrations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9079992" y="3744468"/>
            <a:ext cx="2450592" cy="46977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Complex flows stay clear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94360" y="4232529"/>
            <a:ext cx="10972800" cy="542925"/>
          </a:xfrm>
          <a:prstGeom prst="rect">
            <a:avLst/>
          </a:prstGeom>
          <a:solidFill>
            <a:srgbClr val="FFFFFF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" y="4287393"/>
            <a:ext cx="1463040" cy="46977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167128" y="4287393"/>
            <a:ext cx="2889504" cy="46977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PSP with marketplace/split/hold support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129784" y="4287393"/>
            <a:ext cx="3877056" cy="46977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Protected payment is core but regulated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9079992" y="4287393"/>
            <a:ext cx="2450592" cy="46977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 terms and costs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94360" y="4775454"/>
            <a:ext cx="10972800" cy="542925"/>
          </a:xfrm>
          <a:prstGeom prst="rect">
            <a:avLst/>
          </a:prstGeom>
          <a:solidFill>
            <a:srgbClr val="F5F1E9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936" y="4830318"/>
            <a:ext cx="1463040" cy="46977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167128" y="4830318"/>
            <a:ext cx="2889504" cy="46977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Moderation + demand clustering service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129784" y="4830318"/>
            <a:ext cx="3877056" cy="46977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and intelligence, not novelty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9079992" y="4830318"/>
            <a:ext cx="2450592" cy="46977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review path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94360" y="5318379"/>
            <a:ext cx="10972800" cy="542925"/>
          </a:xfrm>
          <a:prstGeom prst="rect">
            <a:avLst/>
          </a:prstGeom>
          <a:solidFill>
            <a:srgbClr val="FFFFFF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0936" y="5373243"/>
            <a:ext cx="1463040" cy="46977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167128" y="5373243"/>
            <a:ext cx="2889504" cy="46977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Vercel + Supabase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129784" y="5373243"/>
            <a:ext cx="3877056" cy="46977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Preview envs, quick CI, managed infra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9079992" y="5373243"/>
            <a:ext cx="2450592" cy="46977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 and edu governance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76656" y="6035040"/>
            <a:ext cx="84124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Note: these are research recommendations, not final procurement commitments.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C756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2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EDUHACKERS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321040" y="2011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 build research - not final implementation spec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11480" y="502920"/>
            <a:ext cx="11384280" cy="0"/>
          </a:xfrm>
          <a:prstGeom prst="line">
            <a:avLst/>
          </a:prstGeom>
          <a:noFill/>
          <a:ln w="12700">
            <a:solidFill>
              <a:srgbClr val="D7CCB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7665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1D23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Stack decision matrix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0160">
            <a:solidFill>
              <a:srgbClr val="D7CCB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6539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6861"/>
                </a:solidFill>
              </a:rPr>
              <a:t>Scope: all Eduvos campuses | Build model must be validated by user research, policy, legal and payment-provider checks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685800" y="1417320"/>
            <a:ext cx="10881360" cy="560070"/>
          </a:xfrm>
          <a:prstGeom prst="rect">
            <a:avLst/>
          </a:prstGeom>
          <a:solidFill>
            <a:srgbClr val="243831"/>
          </a:solidFill>
          <a:ln w="7620">
            <a:solidFill>
              <a:srgbClr val="2438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2376" y="1490472"/>
            <a:ext cx="1885493" cy="46863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Criterion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2681021" y="1490472"/>
            <a:ext cx="1885493" cy="46863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Next.js + Supabase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4639666" y="1490472"/>
            <a:ext cx="1667866" cy="46863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Firebase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6380683" y="1490472"/>
            <a:ext cx="2103120" cy="46863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 Node + Postgres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8556955" y="1490472"/>
            <a:ext cx="2973629" cy="46863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implication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685800" y="1977390"/>
            <a:ext cx="10881360" cy="560070"/>
          </a:xfrm>
          <a:prstGeom prst="rect">
            <a:avLst/>
          </a:prstGeom>
          <a:solidFill>
            <a:srgbClr val="FFFFFF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" y="2032254"/>
            <a:ext cx="1885493" cy="4869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speed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681021" y="2032254"/>
            <a:ext cx="1885493" cy="4869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639666" y="2032254"/>
            <a:ext cx="1667866" cy="4869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380683" y="2032254"/>
            <a:ext cx="2103120" cy="4869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556955" y="2032254"/>
            <a:ext cx="2973629" cy="4869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Speed favours managed platforms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85800" y="2537460"/>
            <a:ext cx="10881360" cy="560070"/>
          </a:xfrm>
          <a:prstGeom prst="rect">
            <a:avLst/>
          </a:prstGeom>
          <a:solidFill>
            <a:srgbClr val="F5F1E9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2376" y="2592324"/>
            <a:ext cx="1885493" cy="4869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Relational fit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681021" y="2592324"/>
            <a:ext cx="1885493" cy="4869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639666" y="2592324"/>
            <a:ext cx="1667866" cy="4869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380683" y="2592324"/>
            <a:ext cx="2103120" cy="4869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556955" y="2592324"/>
            <a:ext cx="2973629" cy="4869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Marketplace domain is relational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85800" y="3097530"/>
            <a:ext cx="10881360" cy="560070"/>
          </a:xfrm>
          <a:prstGeom prst="rect">
            <a:avLst/>
          </a:prstGeom>
          <a:solidFill>
            <a:srgbClr val="FFFFFF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2376" y="3152394"/>
            <a:ext cx="1885493" cy="4869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RBAC / RLS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681021" y="3152394"/>
            <a:ext cx="1885493" cy="4869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639666" y="3152394"/>
            <a:ext cx="1667866" cy="4869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380683" y="3152394"/>
            <a:ext cx="2103120" cy="4869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556955" y="3152394"/>
            <a:ext cx="2973629" cy="4869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Supabase RLS is useful but must be tested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85800" y="3657600"/>
            <a:ext cx="10881360" cy="560070"/>
          </a:xfrm>
          <a:prstGeom prst="rect">
            <a:avLst/>
          </a:prstGeom>
          <a:solidFill>
            <a:srgbClr val="F5F1E9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2376" y="3712464"/>
            <a:ext cx="1885493" cy="4869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Realtime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681021" y="3712464"/>
            <a:ext cx="1885493" cy="4869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639666" y="3712464"/>
            <a:ext cx="1667866" cy="4869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380683" y="3712464"/>
            <a:ext cx="2103120" cy="4869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556955" y="3712464"/>
            <a:ext cx="2973629" cy="4869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Messaging/status can work either way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85800" y="4217670"/>
            <a:ext cx="10881360" cy="560070"/>
          </a:xfrm>
          <a:prstGeom prst="rect">
            <a:avLst/>
          </a:prstGeom>
          <a:solidFill>
            <a:srgbClr val="FFFFFF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2376" y="4272534"/>
            <a:ext cx="1885493" cy="4869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 lock-in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681021" y="4272534"/>
            <a:ext cx="1885493" cy="4869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639666" y="4272534"/>
            <a:ext cx="1667866" cy="4869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380683" y="4272534"/>
            <a:ext cx="2103120" cy="4869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556955" y="4272534"/>
            <a:ext cx="2973629" cy="4869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Mitigate with clean domain boundaries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85800" y="4777740"/>
            <a:ext cx="10881360" cy="560070"/>
          </a:xfrm>
          <a:prstGeom prst="rect">
            <a:avLst/>
          </a:prstGeom>
          <a:solidFill>
            <a:srgbClr val="F5F1E9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2376" y="4832604"/>
            <a:ext cx="1885493" cy="4869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burden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2681021" y="4832604"/>
            <a:ext cx="1885493" cy="4869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639666" y="4832604"/>
            <a:ext cx="1667866" cy="4869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380683" y="4832604"/>
            <a:ext cx="2103120" cy="4869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8556955" y="4832604"/>
            <a:ext cx="2973629" cy="4869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 backend increases developer load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85800" y="5337810"/>
            <a:ext cx="10881360" cy="560070"/>
          </a:xfrm>
          <a:prstGeom prst="rect">
            <a:avLst/>
          </a:prstGeom>
          <a:solidFill>
            <a:srgbClr val="FFFFFF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2376" y="5392674"/>
            <a:ext cx="1885493" cy="4869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 suitability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2681021" y="5392674"/>
            <a:ext cx="1885493" cy="4869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639666" y="5392674"/>
            <a:ext cx="1667866" cy="4869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380683" y="5392674"/>
            <a:ext cx="2103120" cy="4869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8556955" y="5392674"/>
            <a:ext cx="2973629" cy="4869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starting point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C756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2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EDUHACKERS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321040" y="2011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 build research - not final implementation spec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11480" y="502920"/>
            <a:ext cx="11384280" cy="0"/>
          </a:xfrm>
          <a:prstGeom prst="line">
            <a:avLst/>
          </a:prstGeom>
          <a:noFill/>
          <a:ln w="12700">
            <a:solidFill>
              <a:srgbClr val="D7CCB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7665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1D23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 architecture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0160">
            <a:solidFill>
              <a:srgbClr val="D7CCB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6539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6861"/>
                </a:solidFill>
              </a:rPr>
              <a:t>Scope: all Eduvos campuses | Build model must be validated by user research, policy, legal and payment-provider checks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2103120" y="1965960"/>
            <a:ext cx="1737360" cy="0"/>
          </a:xfrm>
          <a:prstGeom prst="line">
            <a:avLst/>
          </a:prstGeom>
          <a:noFill/>
          <a:ln w="16510">
            <a:solidFill>
              <a:srgbClr val="66725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577840" y="1965960"/>
            <a:ext cx="1645920" cy="0"/>
          </a:xfrm>
          <a:prstGeom prst="line">
            <a:avLst/>
          </a:prstGeom>
          <a:noFill/>
          <a:ln w="16510">
            <a:solidFill>
              <a:srgbClr val="66725A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961120" y="1965960"/>
            <a:ext cx="1371600" cy="0"/>
          </a:xfrm>
          <a:prstGeom prst="line">
            <a:avLst/>
          </a:prstGeom>
          <a:noFill/>
          <a:ln w="16510">
            <a:solidFill>
              <a:srgbClr val="66725A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480560" y="2834640"/>
            <a:ext cx="0" cy="1051560"/>
          </a:xfrm>
          <a:prstGeom prst="line">
            <a:avLst/>
          </a:prstGeom>
          <a:noFill/>
          <a:ln w="16510">
            <a:solidFill>
              <a:srgbClr val="66725A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863840" y="2834640"/>
            <a:ext cx="0" cy="1051560"/>
          </a:xfrm>
          <a:prstGeom prst="line">
            <a:avLst/>
          </a:prstGeom>
          <a:noFill/>
          <a:ln w="16510">
            <a:solidFill>
              <a:srgbClr val="66725A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480560" y="4526280"/>
            <a:ext cx="1828800" cy="0"/>
          </a:xfrm>
          <a:prstGeom prst="line">
            <a:avLst/>
          </a:prstGeom>
          <a:noFill/>
          <a:ln w="16510">
            <a:solidFill>
              <a:srgbClr val="66725A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863840" y="4526280"/>
            <a:ext cx="1645920" cy="0"/>
          </a:xfrm>
          <a:prstGeom prst="line">
            <a:avLst/>
          </a:prstGeom>
          <a:noFill/>
          <a:ln w="16510">
            <a:solidFill>
              <a:srgbClr val="66725A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40080" y="1508760"/>
            <a:ext cx="1645920" cy="914400"/>
          </a:xfrm>
          <a:prstGeom prst="roundRect">
            <a:avLst>
              <a:gd name="adj" fmla="val 9000"/>
            </a:avLst>
          </a:prstGeom>
          <a:solidFill>
            <a:srgbClr val="EFE8DA"/>
          </a:solidFill>
          <a:ln w="13970">
            <a:solidFill>
              <a:srgbClr val="6672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1655064"/>
            <a:ext cx="1499616" cy="7680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/ PWA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Marketplace UI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3657600" y="1508760"/>
            <a:ext cx="2011680" cy="914400"/>
          </a:xfrm>
          <a:prstGeom prst="roundRect">
            <a:avLst>
              <a:gd name="adj" fmla="val 9000"/>
            </a:avLst>
          </a:prstGeom>
          <a:solidFill>
            <a:srgbClr val="FFFDF7"/>
          </a:solidFill>
          <a:ln w="13970">
            <a:solidFill>
              <a:srgbClr val="6672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30752" y="1655064"/>
            <a:ext cx="1865376" cy="7680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layer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OpenAPI + validation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6949440" y="1508760"/>
            <a:ext cx="2103120" cy="914400"/>
          </a:xfrm>
          <a:prstGeom prst="roundRect">
            <a:avLst>
              <a:gd name="adj" fmla="val 9000"/>
            </a:avLst>
          </a:prstGeom>
          <a:solidFill>
            <a:srgbClr val="FFFDF7"/>
          </a:solidFill>
          <a:ln w="13970">
            <a:solidFill>
              <a:srgbClr val="6672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22592" y="1655064"/>
            <a:ext cx="1956816" cy="7680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modules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orders / delivery / trust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10058400" y="1508760"/>
            <a:ext cx="1508760" cy="914400"/>
          </a:xfrm>
          <a:prstGeom prst="roundRect">
            <a:avLst>
              <a:gd name="adj" fmla="val 9000"/>
            </a:avLst>
          </a:prstGeom>
          <a:solidFill>
            <a:srgbClr val="EFE8DA"/>
          </a:solidFill>
          <a:ln w="13970">
            <a:solidFill>
              <a:srgbClr val="6672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131552" y="1655064"/>
            <a:ext cx="1362456" cy="7680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RLS + events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3474720" y="3886200"/>
            <a:ext cx="20116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3970">
            <a:solidFill>
              <a:srgbClr val="B46E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47872" y="4032504"/>
            <a:ext cx="1865376" cy="7680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Payments PSP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 / refund / payout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6812280" y="3886200"/>
            <a:ext cx="210312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3970">
            <a:solidFill>
              <a:srgbClr val="C9A6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85432" y="4032504"/>
            <a:ext cx="1956816" cy="7680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services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moderation / demand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9692640" y="3886200"/>
            <a:ext cx="15544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3970">
            <a:solidFill>
              <a:srgbClr val="6672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65792" y="4032504"/>
            <a:ext cx="1408176" cy="7680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/ media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868680" y="5486400"/>
            <a:ext cx="10287000" cy="530352"/>
          </a:xfrm>
          <a:prstGeom prst="roundRect">
            <a:avLst>
              <a:gd name="adj" fmla="val 13793"/>
            </a:avLst>
          </a:prstGeom>
          <a:solidFill>
            <a:srgbClr val="F8F5ED"/>
          </a:solidFill>
          <a:ln w="9525">
            <a:solidFill>
              <a:srgbClr val="D7CCB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14984" y="5632704"/>
            <a:ext cx="999439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243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rule</a:t>
            </a:r>
            <a:endParaRPr lang="en-US" sz="930" dirty="0"/>
          </a:p>
        </p:txBody>
      </p:sp>
      <p:sp>
        <p:nvSpPr>
          <p:cNvPr id="32" name="Text 30"/>
          <p:cNvSpPr/>
          <p:nvPr/>
        </p:nvSpPr>
        <p:spPr>
          <a:xfrm>
            <a:off x="1014984" y="5961888"/>
            <a:ext cx="9994392" cy="-548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MVP can be one deployed app, but the code should preserve domain boundaries so payments, AI, delivery and Incubation features can change without rewriting everything.</a:t>
            </a:r>
            <a:endParaRPr lang="en-US" sz="8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C756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2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EDUHACKERS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321040" y="2011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 build research - not final implementation spec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11480" y="502920"/>
            <a:ext cx="11384280" cy="0"/>
          </a:xfrm>
          <a:prstGeom prst="line">
            <a:avLst/>
          </a:prstGeom>
          <a:noFill/>
          <a:ln w="12700">
            <a:solidFill>
              <a:srgbClr val="D7CCB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7665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1D23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Domain modules that should not be mixed together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0160">
            <a:solidFill>
              <a:srgbClr val="D7CCB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6539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6861"/>
                </a:solidFill>
              </a:rPr>
              <a:t>Scope: all Eduvos campuses | Build model must be validated by user research, policy, legal and payment-provider checks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594360" y="1417320"/>
            <a:ext cx="2487168" cy="1481328"/>
          </a:xfrm>
          <a:prstGeom prst="roundRect">
            <a:avLst>
              <a:gd name="adj" fmla="val 4938"/>
            </a:avLst>
          </a:prstGeom>
          <a:solidFill>
            <a:srgbClr val="F8F5ED"/>
          </a:solidFill>
          <a:ln w="9525">
            <a:solidFill>
              <a:srgbClr val="D7CC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" y="1563624"/>
            <a:ext cx="21945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43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+ Roles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740664" y="1892808"/>
            <a:ext cx="219456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Eduvos + ID verification, buyer/seller/courier/staff roles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3410712" y="1417320"/>
            <a:ext cx="2487168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7CCB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57016" y="1563624"/>
            <a:ext cx="21945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43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Catalogue + Availability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3557016" y="1892808"/>
            <a:ext cx="219456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Products, services, food, rentals, digital goods, slots and stock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6227064" y="1417320"/>
            <a:ext cx="2487168" cy="1481328"/>
          </a:xfrm>
          <a:prstGeom prst="roundRect">
            <a:avLst>
              <a:gd name="adj" fmla="val 4938"/>
            </a:avLst>
          </a:prstGeom>
          <a:solidFill>
            <a:srgbClr val="F8F5ED"/>
          </a:solidFill>
          <a:ln w="9525">
            <a:solidFill>
              <a:srgbClr val="D7CCB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73368" y="1563624"/>
            <a:ext cx="21945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43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Orders + Bookings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6373368" y="1892808"/>
            <a:ext cx="219456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machines, 30% service deposit, acceptance and completion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9043416" y="1417320"/>
            <a:ext cx="2487168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7CCB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89720" y="1563624"/>
            <a:ext cx="21945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43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Payments + Payouts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9189720" y="1892808"/>
            <a:ext cx="219456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PSP references, holds, refunds, commissions and fee treatment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594360" y="3474720"/>
            <a:ext cx="2487168" cy="1481328"/>
          </a:xfrm>
          <a:prstGeom prst="roundRect">
            <a:avLst>
              <a:gd name="adj" fmla="val 4938"/>
            </a:avLst>
          </a:prstGeom>
          <a:solidFill>
            <a:srgbClr val="F8F5ED"/>
          </a:solidFill>
          <a:ln w="9525">
            <a:solidFill>
              <a:srgbClr val="D7CCB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0664" y="3621024"/>
            <a:ext cx="21945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43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+ Pickup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740664" y="3950208"/>
            <a:ext cx="219456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Pickup zones, seller delivery, student courier and proof of handoff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3410712" y="3474720"/>
            <a:ext cx="2487168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7CCB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57016" y="3621024"/>
            <a:ext cx="21945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43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+ Disputes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3557016" y="3950208"/>
            <a:ext cx="219456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Reviews, buyer/seller standing, reports, evidence, moderation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6227064" y="3474720"/>
            <a:ext cx="2487168" cy="1481328"/>
          </a:xfrm>
          <a:prstGeom prst="roundRect">
            <a:avLst>
              <a:gd name="adj" fmla="val 4938"/>
            </a:avLst>
          </a:prstGeom>
          <a:solidFill>
            <a:srgbClr val="F8F5ED"/>
          </a:solidFill>
          <a:ln w="9525">
            <a:solidFill>
              <a:srgbClr val="D7CCB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73368" y="3621024"/>
            <a:ext cx="21945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43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+ Compliance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6373368" y="3950208"/>
            <a:ext cx="219456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checks, demand clustering, seller guidance and staff interventions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9043416" y="3474720"/>
            <a:ext cx="2487168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7CCB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89720" y="3621024"/>
            <a:ext cx="21945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43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+ Incubation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9189720" y="3950208"/>
            <a:ext cx="219456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Marketplace metrics, demand intelligence, Business Health Score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C756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2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EDUHACKERS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321040" y="2011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 build research - not final implementation spec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11480" y="502920"/>
            <a:ext cx="11384280" cy="0"/>
          </a:xfrm>
          <a:prstGeom prst="line">
            <a:avLst/>
          </a:prstGeom>
          <a:noFill/>
          <a:ln w="12700">
            <a:solidFill>
              <a:srgbClr val="D7CCB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7665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1D23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Conceptual data model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0160">
            <a:solidFill>
              <a:srgbClr val="D7CCB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6539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6861"/>
                </a:solidFill>
              </a:rPr>
              <a:t>Scope: all Eduvos campuses | Build model must be validated by user research, policy, legal and payment-provider checks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594360" y="1344168"/>
            <a:ext cx="10972800" cy="560070"/>
          </a:xfrm>
          <a:prstGeom prst="rect">
            <a:avLst/>
          </a:prstGeom>
          <a:solidFill>
            <a:srgbClr val="243831"/>
          </a:solidFill>
          <a:ln w="7620">
            <a:solidFill>
              <a:srgbClr val="2438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" y="1417320"/>
            <a:ext cx="1901952" cy="46863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Entity group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2606040" y="1417320"/>
            <a:ext cx="3877056" cy="46863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6556248" y="1417320"/>
            <a:ext cx="4974336" cy="46863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594360" y="1904238"/>
            <a:ext cx="10972800" cy="560070"/>
          </a:xfrm>
          <a:prstGeom prst="rect">
            <a:avLst/>
          </a:prstGeom>
          <a:solidFill>
            <a:srgbClr val="FFFFFF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" y="1959102"/>
            <a:ext cx="1901952" cy="4869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606040" y="1959102"/>
            <a:ext cx="3877056" cy="4869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User, StudentProfile, SellerProfile, CourierProfile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56248" y="1959102"/>
            <a:ext cx="4974336" cy="4869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Verification, privacy boundary and role-based access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94360" y="2464308"/>
            <a:ext cx="10972800" cy="560070"/>
          </a:xfrm>
          <a:prstGeom prst="rect">
            <a:avLst/>
          </a:prstGeom>
          <a:solidFill>
            <a:srgbClr val="F5F1E9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" y="2519172"/>
            <a:ext cx="1901952" cy="4869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Marketplace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606040" y="2519172"/>
            <a:ext cx="3877056" cy="4869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Listing, Availability, Campus, Category, SearchEvent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556248" y="2519172"/>
            <a:ext cx="4974336" cy="4869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Discovery, stock, slots, campus-first fallback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3024378"/>
            <a:ext cx="10972800" cy="560070"/>
          </a:xfrm>
          <a:prstGeom prst="rect">
            <a:avLst/>
          </a:prstGeom>
          <a:solidFill>
            <a:srgbClr val="FFFFFF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" y="3079242"/>
            <a:ext cx="1901952" cy="4869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606040" y="3079242"/>
            <a:ext cx="3877056" cy="4869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Order, Booking, PaymentHold, Refund, Dispute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556248" y="3079242"/>
            <a:ext cx="4974336" cy="4869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Protected payment state and evidence-based decisions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94360" y="3584448"/>
            <a:ext cx="10972800" cy="560070"/>
          </a:xfrm>
          <a:prstGeom prst="rect">
            <a:avLst/>
          </a:prstGeom>
          <a:solidFill>
            <a:srgbClr val="F5F1E9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" y="3639312"/>
            <a:ext cx="1901952" cy="4869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Fulfilment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606040" y="3639312"/>
            <a:ext cx="3877056" cy="4869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DeliveryTask, PickupPoint, Rental, EventTicket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556248" y="3639312"/>
            <a:ext cx="4974336" cy="4869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Physical logistics, cross-campus movement and handoff proof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94360" y="4144518"/>
            <a:ext cx="10972800" cy="560070"/>
          </a:xfrm>
          <a:prstGeom prst="rect">
            <a:avLst/>
          </a:prstGeom>
          <a:solidFill>
            <a:srgbClr val="FFFFFF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" y="4199382"/>
            <a:ext cx="1901952" cy="4869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606040" y="4199382"/>
            <a:ext cx="3877056" cy="4869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Review, Report, EnforcementAction, Appeal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556248" y="4199382"/>
            <a:ext cx="4974336" cy="4869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Two-sided reputation and graduated enforcement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94360" y="4704588"/>
            <a:ext cx="10972800" cy="560070"/>
          </a:xfrm>
          <a:prstGeom prst="rect">
            <a:avLst/>
          </a:prstGeom>
          <a:solidFill>
            <a:srgbClr val="F5F1E9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" y="4759452"/>
            <a:ext cx="1901952" cy="4869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Intelligence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606040" y="4759452"/>
            <a:ext cx="3877056" cy="4869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OpportunitySignal, IncubationRecord, AIRecommendation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556248" y="4759452"/>
            <a:ext cx="4974336" cy="4869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 loop and staff intervention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94360" y="5264658"/>
            <a:ext cx="10972800" cy="560070"/>
          </a:xfrm>
          <a:prstGeom prst="rect">
            <a:avLst/>
          </a:prstGeom>
          <a:solidFill>
            <a:srgbClr val="FFFFFF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" y="5319522"/>
            <a:ext cx="1901952" cy="4869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606040" y="5319522"/>
            <a:ext cx="3877056" cy="4869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FileAsset, EvidenceFile, Reel, DigitalProductAsset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556248" y="5319522"/>
            <a:ext cx="4974336" cy="4869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Uploads, evidence and content scanning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868680" y="5961888"/>
            <a:ext cx="10058400" cy="384048"/>
          </a:xfrm>
          <a:prstGeom prst="roundRect">
            <a:avLst>
              <a:gd name="adj" fmla="val 19048"/>
            </a:avLst>
          </a:prstGeom>
          <a:solidFill>
            <a:srgbClr val="EFE8DA"/>
          </a:solidFill>
          <a:ln w="9525">
            <a:solidFill>
              <a:srgbClr val="D7CCB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14984" y="6108192"/>
            <a:ext cx="976579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243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 relationship</a:t>
            </a:r>
            <a:endParaRPr lang="en-US" sz="870" dirty="0"/>
          </a:p>
        </p:txBody>
      </p:sp>
      <p:sp>
        <p:nvSpPr>
          <p:cNvPr id="43" name="Text 41"/>
          <p:cNvSpPr/>
          <p:nvPr/>
        </p:nvSpPr>
        <p:spPr>
          <a:xfrm>
            <a:off x="1014984" y="6437376"/>
            <a:ext cx="9765792" cy="-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SearchEvent -&gt; UnmetDemand -&gt; OpportunitySignal is the technical core of “demand becomes entrepreneurship intelligence.”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C756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2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EDUHACKERS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321040" y="2011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 build research - not final implementation spec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11480" y="502920"/>
            <a:ext cx="11384280" cy="0"/>
          </a:xfrm>
          <a:prstGeom prst="line">
            <a:avLst/>
          </a:prstGeom>
          <a:noFill/>
          <a:ln w="12700">
            <a:solidFill>
              <a:srgbClr val="D7CCB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7665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1D23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RBAC and object-level authorisation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0160">
            <a:solidFill>
              <a:srgbClr val="D7CCB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6539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6861"/>
                </a:solidFill>
              </a:rPr>
              <a:t>Scope: all Eduvos campuses | Build model must be validated by user research, policy, legal and payment-provider checks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594360" y="1325880"/>
            <a:ext cx="10972800" cy="634855"/>
          </a:xfrm>
          <a:prstGeom prst="rect">
            <a:avLst/>
          </a:prstGeom>
          <a:solidFill>
            <a:srgbClr val="243831"/>
          </a:solidFill>
          <a:ln w="7620">
            <a:solidFill>
              <a:srgbClr val="2438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" y="1399032"/>
            <a:ext cx="1682496" cy="54341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2386584" y="1399032"/>
            <a:ext cx="3438144" cy="54341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do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5897880" y="1399032"/>
            <a:ext cx="2999232" cy="54341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Must not do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8970264" y="1399032"/>
            <a:ext cx="2560320" cy="54341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question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594360" y="1960735"/>
            <a:ext cx="10972800" cy="634855"/>
          </a:xfrm>
          <a:prstGeom prst="rect">
            <a:avLst/>
          </a:prstGeom>
          <a:solidFill>
            <a:srgbClr val="FFFFFF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2015599"/>
            <a:ext cx="1682496" cy="56170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Buyer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386584" y="2015599"/>
            <a:ext cx="3438144" cy="56170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Buy, book, rent, review, dispute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897880" y="2015599"/>
            <a:ext cx="2999232" cy="56170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seller/order evidence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970264" y="2015599"/>
            <a:ext cx="2560320" cy="56170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buyers also earn trust?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2595590"/>
            <a:ext cx="10972800" cy="634855"/>
          </a:xfrm>
          <a:prstGeom prst="rect">
            <a:avLst/>
          </a:prstGeom>
          <a:solidFill>
            <a:srgbClr val="F5F1E9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" y="2650454"/>
            <a:ext cx="1682496" cy="56170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 Seller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386584" y="2650454"/>
            <a:ext cx="3438144" cy="56170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standard listings, accept orders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897880" y="2650454"/>
            <a:ext cx="2999232" cy="56170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storefront until unlock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970264" y="2650454"/>
            <a:ext cx="2560320" cy="56170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trust threshold is fair?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94360" y="3230445"/>
            <a:ext cx="10972800" cy="634855"/>
          </a:xfrm>
          <a:prstGeom prst="rect">
            <a:avLst/>
          </a:prstGeom>
          <a:solidFill>
            <a:srgbClr val="FFFFFF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" y="3285309"/>
            <a:ext cx="1682496" cy="56170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Trusted Seller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386584" y="3285309"/>
            <a:ext cx="3438144" cy="56170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storefront, selected subscriptions, larger gigs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897880" y="3285309"/>
            <a:ext cx="2999232" cy="56170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Bypass policy or disputes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970264" y="3285309"/>
            <a:ext cx="2560320" cy="56170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benefits motivate quality?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94360" y="3865299"/>
            <a:ext cx="10972800" cy="634855"/>
          </a:xfrm>
          <a:prstGeom prst="rect">
            <a:avLst/>
          </a:prstGeom>
          <a:solidFill>
            <a:srgbClr val="F5F1E9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" y="3920163"/>
            <a:ext cx="1682496" cy="56170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Courier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386584" y="3920163"/>
            <a:ext cx="3438144" cy="56170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 delivery tasks, prove handoff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897880" y="3920163"/>
            <a:ext cx="2999232" cy="56170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 unnecessary order details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970264" y="3920163"/>
            <a:ext cx="2560320" cy="56170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much location is needed?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94360" y="4500154"/>
            <a:ext cx="10972800" cy="634855"/>
          </a:xfrm>
          <a:prstGeom prst="rect">
            <a:avLst/>
          </a:prstGeom>
          <a:solidFill>
            <a:srgbClr val="FFFFFF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" y="4555018"/>
            <a:ext cx="1682496" cy="56170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Incubation Staff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386584" y="4555018"/>
            <a:ext cx="3438144" cy="56170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 eligible business insights and approve plans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897880" y="4555018"/>
            <a:ext cx="2999232" cy="56170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 non-opt-in sellers directly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970264" y="4555018"/>
            <a:ext cx="2560320" cy="56170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metrics are actionable?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94360" y="5135009"/>
            <a:ext cx="10972800" cy="634855"/>
          </a:xfrm>
          <a:prstGeom prst="rect">
            <a:avLst/>
          </a:prstGeom>
          <a:solidFill>
            <a:srgbClr val="F5F1E9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936" y="5189873"/>
            <a:ext cx="1682496" cy="56170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Moderator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386584" y="5189873"/>
            <a:ext cx="3438144" cy="56170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reports/disputes and enforcement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897880" y="5189873"/>
            <a:ext cx="2999232" cy="56170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PSP states without audit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8970264" y="5189873"/>
            <a:ext cx="2560320" cy="56170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evidence is enough?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C756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2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EDUHACKERS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321040" y="2011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 build research - not final implementation spec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11480" y="502920"/>
            <a:ext cx="11384280" cy="0"/>
          </a:xfrm>
          <a:prstGeom prst="line">
            <a:avLst/>
          </a:prstGeom>
          <a:noFill/>
          <a:ln w="12700">
            <a:solidFill>
              <a:srgbClr val="D7CCB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7665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1D23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strategy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0160">
            <a:solidFill>
              <a:srgbClr val="D7CCB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6539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6861"/>
                </a:solidFill>
              </a:rPr>
              <a:t>Scope: all Eduvos campuses | Build model must be validated by user research, policy, legal and payment-provider checks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594360" y="1417320"/>
            <a:ext cx="3474720" cy="1280160"/>
          </a:xfrm>
          <a:prstGeom prst="roundRect">
            <a:avLst>
              <a:gd name="adj" fmla="val 5714"/>
            </a:avLst>
          </a:prstGeom>
          <a:solidFill>
            <a:srgbClr val="FFFDF7"/>
          </a:solidFill>
          <a:ln w="9525">
            <a:solidFill>
              <a:srgbClr val="D7CC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" y="1563624"/>
            <a:ext cx="318211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3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 first for MVP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0664" y="1892808"/>
            <a:ext cx="3182112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Easier for team implementation, API documentation, testing and external review. Use strict validation at all boundaries.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4343400" y="1417320"/>
            <a:ext cx="3474720" cy="1280160"/>
          </a:xfrm>
          <a:prstGeom prst="roundRect">
            <a:avLst>
              <a:gd name="adj" fmla="val 5714"/>
            </a:avLst>
          </a:prstGeom>
          <a:solidFill>
            <a:srgbClr val="FFFDF7"/>
          </a:solidFill>
          <a:ln w="9525">
            <a:solidFill>
              <a:srgbClr val="D7CCB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9704" y="1563624"/>
            <a:ext cx="318211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3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Realtime where needed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89704" y="1892808"/>
            <a:ext cx="3182112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Messaging, order status, delivery status, event capacity and moderator queues can use realtime after base flows work.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8092440" y="1417320"/>
            <a:ext cx="3474720" cy="1280160"/>
          </a:xfrm>
          <a:prstGeom prst="roundRect">
            <a:avLst>
              <a:gd name="adj" fmla="val 5714"/>
            </a:avLst>
          </a:prstGeom>
          <a:solidFill>
            <a:srgbClr val="FFFDF7"/>
          </a:solidFill>
          <a:ln w="9525">
            <a:solidFill>
              <a:srgbClr val="D7CCB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38744" y="1563624"/>
            <a:ext cx="318211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3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Events for learning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38744" y="1892808"/>
            <a:ext cx="3182112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Commerce state changes should also produce analytics events, not be reconstructed later from raw tables.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777240" y="3246120"/>
            <a:ext cx="10607040" cy="320040"/>
          </a:xfrm>
          <a:prstGeom prst="rect">
            <a:avLst/>
          </a:prstGeom>
          <a:solidFill>
            <a:srgbClr val="243831"/>
          </a:solidFill>
          <a:ln w="7620">
            <a:solidFill>
              <a:srgbClr val="24383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" y="3319272"/>
            <a:ext cx="1836115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Area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2723083" y="3319272"/>
            <a:ext cx="4381805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endpoints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7178040" y="3319272"/>
            <a:ext cx="416966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Notes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777240" y="3566160"/>
            <a:ext cx="1060704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3816" y="3621024"/>
            <a:ext cx="1836115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Listings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723083" y="3621024"/>
            <a:ext cx="4381805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/listings, POST /seller/listings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178040" y="3621024"/>
            <a:ext cx="4169664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campus, category, stock, service slots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77240" y="3886200"/>
            <a:ext cx="10607040" cy="320040"/>
          </a:xfrm>
          <a:prstGeom prst="rect">
            <a:avLst/>
          </a:prstGeom>
          <a:solidFill>
            <a:srgbClr val="F5F1E9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3816" y="3941064"/>
            <a:ext cx="1836115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723083" y="3941064"/>
            <a:ext cx="4381805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/orders, PATCH /orders/{id}/accept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178040" y="3941064"/>
            <a:ext cx="4169664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machine, role checks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77240" y="4206240"/>
            <a:ext cx="1060704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3816" y="4261104"/>
            <a:ext cx="1836115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723083" y="4261104"/>
            <a:ext cx="4381805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/payments/intent, POST /refunds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178040" y="4261104"/>
            <a:ext cx="4169664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PSP reference only, no raw secrets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77240" y="4526280"/>
            <a:ext cx="10607040" cy="320040"/>
          </a:xfrm>
          <a:prstGeom prst="rect">
            <a:avLst/>
          </a:prstGeom>
          <a:solidFill>
            <a:srgbClr val="F5F1E9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3816" y="4581144"/>
            <a:ext cx="1836115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Disputes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723083" y="4581144"/>
            <a:ext cx="4381805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/orders/{id}/disputes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178040" y="4581144"/>
            <a:ext cx="4169664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upload and moderator workflow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77240" y="4846320"/>
            <a:ext cx="1060704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3816" y="4901184"/>
            <a:ext cx="1836115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Intelligence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723083" y="4901184"/>
            <a:ext cx="4381805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/staff/demand-signals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178040" y="4901184"/>
            <a:ext cx="4169664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aggregated, privacy scoped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C756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2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EDUHACKERS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321040" y="2011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 build research - not final implementation spec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11480" y="502920"/>
            <a:ext cx="11384280" cy="0"/>
          </a:xfrm>
          <a:prstGeom prst="line">
            <a:avLst/>
          </a:prstGeom>
          <a:noFill/>
          <a:ln w="12700">
            <a:solidFill>
              <a:srgbClr val="D7CCB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7665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1D23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traceability map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0160">
            <a:solidFill>
              <a:srgbClr val="D7CCB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6539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6861"/>
                </a:solidFill>
              </a:rPr>
              <a:t>Scope: all Eduvos campuses | Build model must be validated by user research, policy, legal and payment-provider checks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594360" y="1417320"/>
            <a:ext cx="10972800" cy="600891"/>
          </a:xfrm>
          <a:prstGeom prst="rect">
            <a:avLst/>
          </a:prstGeom>
          <a:solidFill>
            <a:srgbClr val="243831"/>
          </a:solidFill>
          <a:ln w="7620">
            <a:solidFill>
              <a:srgbClr val="2438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" y="1490472"/>
            <a:ext cx="2670048" cy="5094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action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3374136" y="1490472"/>
            <a:ext cx="3328416" cy="5094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/ domain action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6775704" y="1490472"/>
            <a:ext cx="2340864" cy="5094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emitted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9189720" y="1490472"/>
            <a:ext cx="2340864" cy="5094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target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594360" y="2018211"/>
            <a:ext cx="10972800" cy="600891"/>
          </a:xfrm>
          <a:prstGeom prst="rect">
            <a:avLst/>
          </a:prstGeom>
          <a:solidFill>
            <a:srgbClr val="FFFFFF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2073075"/>
            <a:ext cx="2670048" cy="52773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fails locally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374136" y="2073075"/>
            <a:ext cx="3328416" cy="52773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fallback search + request prompt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775704" y="2073075"/>
            <a:ext cx="2340864" cy="52773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search_zero_result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189720" y="2073075"/>
            <a:ext cx="2340864" cy="52773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Fallback task completion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2619103"/>
            <a:ext cx="10972800" cy="600891"/>
          </a:xfrm>
          <a:prstGeom prst="rect">
            <a:avLst/>
          </a:prstGeom>
          <a:solidFill>
            <a:srgbClr val="F5F1E9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" y="2673967"/>
            <a:ext cx="2670048" cy="52773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Buyer starts order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374136" y="2673967"/>
            <a:ext cx="3328416" cy="52773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order + payment intent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775704" y="2673967"/>
            <a:ext cx="2340864" cy="52773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order_started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189720" y="2673967"/>
            <a:ext cx="2340864" cy="52773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Checkout state and fee clarity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94360" y="3219994"/>
            <a:ext cx="10972800" cy="600891"/>
          </a:xfrm>
          <a:prstGeom prst="rect">
            <a:avLst/>
          </a:prstGeom>
          <a:solidFill>
            <a:srgbClr val="FFFFFF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" y="3274858"/>
            <a:ext cx="2670048" cy="52773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Seller accepts service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374136" y="3274858"/>
            <a:ext cx="3328416" cy="52773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booking accepted + deposit protected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775704" y="3274858"/>
            <a:ext cx="2340864" cy="52773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order_accepted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189720" y="3274858"/>
            <a:ext cx="2340864" cy="52773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30% deposit comprehension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94360" y="3820886"/>
            <a:ext cx="10972800" cy="600891"/>
          </a:xfrm>
          <a:prstGeom prst="rect">
            <a:avLst/>
          </a:prstGeom>
          <a:solidFill>
            <a:srgbClr val="F5F1E9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" y="3875750"/>
            <a:ext cx="2670048" cy="52773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Courier collects item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374136" y="3875750"/>
            <a:ext cx="3328416" cy="52773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evidence upload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775704" y="3875750"/>
            <a:ext cx="2340864" cy="52773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delivery_started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9189720" y="3875750"/>
            <a:ext cx="2340864" cy="52773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proof-of-handoff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94360" y="4421777"/>
            <a:ext cx="10972800" cy="600891"/>
          </a:xfrm>
          <a:prstGeom prst="rect">
            <a:avLst/>
          </a:prstGeom>
          <a:solidFill>
            <a:srgbClr val="FFFFFF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" y="4476641"/>
            <a:ext cx="2670048" cy="52773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Buyer disputes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374136" y="4476641"/>
            <a:ext cx="3328416" cy="52773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dispute + evidence records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775704" y="4476641"/>
            <a:ext cx="2340864" cy="52773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dispute_opened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9189720" y="4476641"/>
            <a:ext cx="2340864" cy="52773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burden/fairness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94360" y="5022669"/>
            <a:ext cx="10972800" cy="600891"/>
          </a:xfrm>
          <a:prstGeom prst="rect">
            <a:avLst/>
          </a:prstGeom>
          <a:solidFill>
            <a:srgbClr val="F5F1E9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936" y="5077533"/>
            <a:ext cx="2670048" cy="52773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 approves intervention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374136" y="5077533"/>
            <a:ext cx="3328416" cy="52773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plan approved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775704" y="5077533"/>
            <a:ext cx="2340864" cy="52773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mentor_intervention_created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9189720" y="5077533"/>
            <a:ext cx="2340864" cy="52773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 control and audit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85800" y="5989320"/>
            <a:ext cx="7315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bridge between research, product, UX, development and testing.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C756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2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EDUHACKERS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321040" y="2011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 build research - not final implementation spec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11480" y="502920"/>
            <a:ext cx="11384280" cy="0"/>
          </a:xfrm>
          <a:prstGeom prst="line">
            <a:avLst/>
          </a:prstGeom>
          <a:noFill/>
          <a:ln w="12700">
            <a:solidFill>
              <a:srgbClr val="D7CCB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7665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1D23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Wireframe research: buyer discovery flow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0160">
            <a:solidFill>
              <a:srgbClr val="D7CCB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6539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6861"/>
                </a:solidFill>
              </a:rPr>
              <a:t>Scope: all Eduvos campuses | Build model must be validated by user research, policy, legal and payment-provider checks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822960" y="1417320"/>
            <a:ext cx="2148840" cy="4297680"/>
          </a:xfrm>
          <a:prstGeom prst="roundRect">
            <a:avLst>
              <a:gd name="adj" fmla="val 6809"/>
            </a:avLst>
          </a:prstGeom>
          <a:solidFill>
            <a:srgbClr val="1D2321"/>
          </a:solidFill>
          <a:ln w="12700">
            <a:solidFill>
              <a:srgbClr val="1D232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1527048"/>
            <a:ext cx="2002536" cy="4078224"/>
          </a:xfrm>
          <a:prstGeom prst="roundRect">
            <a:avLst>
              <a:gd name="adj" fmla="val 5479"/>
            </a:avLst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655064"/>
            <a:ext cx="17830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43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 / search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024128" y="2011680"/>
            <a:ext cx="1746504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D7CCB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112264"/>
            <a:ext cx="1600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Search: laptop repair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1024128" y="2523744"/>
            <a:ext cx="1746504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D7CCB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2624328"/>
            <a:ext cx="1600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Campus: Potchefstroom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1024128" y="3035808"/>
            <a:ext cx="1746504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D7CCB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136392"/>
            <a:ext cx="1600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Available today toggle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1024128" y="3547872"/>
            <a:ext cx="1746504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D7CCB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3648456"/>
            <a:ext cx="1600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Listings + services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1024128" y="4059936"/>
            <a:ext cx="1746504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D7CCB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160520"/>
            <a:ext cx="1600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no local match: show fallback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3566160" y="1417320"/>
            <a:ext cx="2148840" cy="4297680"/>
          </a:xfrm>
          <a:prstGeom prst="roundRect">
            <a:avLst>
              <a:gd name="adj" fmla="val 6809"/>
            </a:avLst>
          </a:prstGeom>
          <a:solidFill>
            <a:srgbClr val="1D2321"/>
          </a:solidFill>
          <a:ln w="12700">
            <a:solidFill>
              <a:srgbClr val="1D232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39312" y="1527048"/>
            <a:ext cx="2002536" cy="4078224"/>
          </a:xfrm>
          <a:prstGeom prst="roundRect">
            <a:avLst>
              <a:gd name="adj" fmla="val 5479"/>
            </a:avLst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49040" y="1655064"/>
            <a:ext cx="17830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43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Fallback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767328" y="2011680"/>
            <a:ext cx="1746504" cy="347472"/>
          </a:xfrm>
          <a:prstGeom prst="roundRect">
            <a:avLst>
              <a:gd name="adj" fmla="val 13158"/>
            </a:avLst>
          </a:prstGeom>
          <a:solidFill>
            <a:srgbClr val="EFE8DA"/>
          </a:solidFill>
          <a:ln w="6350">
            <a:solidFill>
              <a:srgbClr val="D7CCB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0" y="2112264"/>
            <a:ext cx="1600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stock unavailable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3767328" y="2523744"/>
            <a:ext cx="1746504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D7CCB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0" y="2624328"/>
            <a:ext cx="1600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Try: nearby seller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3767328" y="3035808"/>
            <a:ext cx="1746504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D7CCB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0" y="3136392"/>
            <a:ext cx="1600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Try: other Eduvos campus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3767328" y="3547872"/>
            <a:ext cx="1746504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D7CCB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0" y="3648456"/>
            <a:ext cx="1600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Try: create request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3767328" y="4059936"/>
            <a:ext cx="1746504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D7CCB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0" y="4160520"/>
            <a:ext cx="1600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 demand signal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6309360" y="1417320"/>
            <a:ext cx="2148840" cy="4297680"/>
          </a:xfrm>
          <a:prstGeom prst="roundRect">
            <a:avLst>
              <a:gd name="adj" fmla="val 6809"/>
            </a:avLst>
          </a:prstGeom>
          <a:solidFill>
            <a:srgbClr val="1D2321"/>
          </a:solidFill>
          <a:ln w="12700">
            <a:solidFill>
              <a:srgbClr val="1D232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82512" y="1527048"/>
            <a:ext cx="2002536" cy="4078224"/>
          </a:xfrm>
          <a:prstGeom prst="roundRect">
            <a:avLst>
              <a:gd name="adj" fmla="val 5479"/>
            </a:avLst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1655064"/>
            <a:ext cx="17830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43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510528" y="2011680"/>
            <a:ext cx="1746504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D7CCB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0" y="2112264"/>
            <a:ext cx="1600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 by date/time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6510528" y="2523744"/>
            <a:ext cx="1746504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D7CCB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0" y="2624328"/>
            <a:ext cx="1600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range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6510528" y="3035808"/>
            <a:ext cx="1746504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D7CCB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0" y="3136392"/>
            <a:ext cx="1600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Delivery/pickup preference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6510528" y="3547872"/>
            <a:ext cx="1746504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D7CCB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0" y="3648456"/>
            <a:ext cx="1600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Notify matching sellers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6510528" y="4059936"/>
            <a:ext cx="1746504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D7CCB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83680" y="4160520"/>
            <a:ext cx="1600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responses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9235440" y="1874520"/>
            <a:ext cx="2103120" cy="2377440"/>
          </a:xfrm>
          <a:prstGeom prst="roundRect">
            <a:avLst>
              <a:gd name="adj" fmla="val 3478"/>
            </a:avLst>
          </a:prstGeom>
          <a:solidFill>
            <a:srgbClr val="F8F5ED"/>
          </a:solidFill>
          <a:ln w="9525">
            <a:solidFill>
              <a:srgbClr val="D7CCB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381744" y="2020824"/>
            <a:ext cx="181051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3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test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9381744" y="2350008"/>
            <a:ext cx="1810512" cy="17922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students to find an unavailable product/service and observe if they understand fallback, cross-campus options and request creation.</a:t>
            </a:r>
            <a:endParaRPr lang="en-US" sz="8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C756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2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EDUHACKERS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321040" y="2011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 build research - not final implementation spec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11480" y="502920"/>
            <a:ext cx="11384280" cy="0"/>
          </a:xfrm>
          <a:prstGeom prst="line">
            <a:avLst/>
          </a:prstGeom>
          <a:noFill/>
          <a:ln w="12700">
            <a:solidFill>
              <a:srgbClr val="D7CCB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7665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1D23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Wireframe research: seller onboarding and listing flow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0160">
            <a:solidFill>
              <a:srgbClr val="D7CCB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6539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6861"/>
                </a:solidFill>
              </a:rPr>
              <a:t>Scope: all Eduvos campuses | Build model must be validated by user research, policy, legal and payment-provider checks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822960" y="1417320"/>
            <a:ext cx="2148840" cy="4297680"/>
          </a:xfrm>
          <a:prstGeom prst="roundRect">
            <a:avLst>
              <a:gd name="adj" fmla="val 6809"/>
            </a:avLst>
          </a:prstGeom>
          <a:solidFill>
            <a:srgbClr val="1D2321"/>
          </a:solidFill>
          <a:ln w="12700">
            <a:solidFill>
              <a:srgbClr val="1D232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1527048"/>
            <a:ext cx="2002536" cy="4078224"/>
          </a:xfrm>
          <a:prstGeom prst="roundRect">
            <a:avLst>
              <a:gd name="adj" fmla="val 5479"/>
            </a:avLst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655064"/>
            <a:ext cx="17830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43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Seller verify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024128" y="2011680"/>
            <a:ext cx="1746504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D7CCB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112264"/>
            <a:ext cx="1600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Eduvos account verified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1024128" y="2523744"/>
            <a:ext cx="1746504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D7CCB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2624328"/>
            <a:ext cx="1600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Government ID check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1024128" y="3035808"/>
            <a:ext cx="1746504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D7CCB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136392"/>
            <a:ext cx="1600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acknowledgement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1024128" y="3547872"/>
            <a:ext cx="1746504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D7CCB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3648456"/>
            <a:ext cx="1600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 seller profile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1024128" y="4059936"/>
            <a:ext cx="1746504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D7CCB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160520"/>
            <a:ext cx="1600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brand storefront yet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3566160" y="1417320"/>
            <a:ext cx="2148840" cy="4297680"/>
          </a:xfrm>
          <a:prstGeom prst="roundRect">
            <a:avLst>
              <a:gd name="adj" fmla="val 6809"/>
            </a:avLst>
          </a:prstGeom>
          <a:solidFill>
            <a:srgbClr val="1D2321"/>
          </a:solidFill>
          <a:ln w="12700">
            <a:solidFill>
              <a:srgbClr val="1D232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39312" y="1527048"/>
            <a:ext cx="2002536" cy="4078224"/>
          </a:xfrm>
          <a:prstGeom prst="roundRect">
            <a:avLst>
              <a:gd name="adj" fmla="val 5479"/>
            </a:avLst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49040" y="1655064"/>
            <a:ext cx="17830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43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listing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767328" y="2011680"/>
            <a:ext cx="1746504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D7CCB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0" y="2112264"/>
            <a:ext cx="1600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/ Service / Food / Rental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3767328" y="2523744"/>
            <a:ext cx="1746504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D7CCB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0" y="2624328"/>
            <a:ext cx="1600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Required category fields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3767328" y="3035808"/>
            <a:ext cx="1746504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D7CCB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0" y="3136392"/>
            <a:ext cx="1600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compliance check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3767328" y="3547872"/>
            <a:ext cx="1746504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D7CCB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0" y="3648456"/>
            <a:ext cx="1600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Availability + campus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3767328" y="4059936"/>
            <a:ext cx="1746504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D7CCB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0" y="4160520"/>
            <a:ext cx="1600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 or hold for review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6309360" y="1417320"/>
            <a:ext cx="2148840" cy="4297680"/>
          </a:xfrm>
          <a:prstGeom prst="roundRect">
            <a:avLst>
              <a:gd name="adj" fmla="val 6809"/>
            </a:avLst>
          </a:prstGeom>
          <a:solidFill>
            <a:srgbClr val="1D2321"/>
          </a:solidFill>
          <a:ln w="12700">
            <a:solidFill>
              <a:srgbClr val="1D232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82512" y="1527048"/>
            <a:ext cx="2002536" cy="4078224"/>
          </a:xfrm>
          <a:prstGeom prst="roundRect">
            <a:avLst>
              <a:gd name="adj" fmla="val 5479"/>
            </a:avLst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1655064"/>
            <a:ext cx="17830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43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Progression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510528" y="2011680"/>
            <a:ext cx="1746504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D7CCB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0" y="2112264"/>
            <a:ext cx="1600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successful sales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6510528" y="2523744"/>
            <a:ext cx="1746504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D7CCB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0" y="2624328"/>
            <a:ext cx="1600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R1,000 completed sales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6510528" y="3035808"/>
            <a:ext cx="1746504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D7CCB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0" y="3136392"/>
            <a:ext cx="1600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rating/standing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6510528" y="3547872"/>
            <a:ext cx="1746504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D7CCB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0" y="3648456"/>
            <a:ext cx="1600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Trusted Seller unlock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6510528" y="4059936"/>
            <a:ext cx="1746504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D7CCB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83680" y="4160520"/>
            <a:ext cx="1600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storefront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9235440" y="1874520"/>
            <a:ext cx="2103120" cy="2377440"/>
          </a:xfrm>
          <a:prstGeom prst="roundRect">
            <a:avLst>
              <a:gd name="adj" fmla="val 3478"/>
            </a:avLst>
          </a:prstGeom>
          <a:solidFill>
            <a:srgbClr val="F8F5ED"/>
          </a:solidFill>
          <a:ln w="9525">
            <a:solidFill>
              <a:srgbClr val="D7CCB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381744" y="2020824"/>
            <a:ext cx="181051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3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test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9381744" y="2350008"/>
            <a:ext cx="1810512" cy="17922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whether students understand the path from personal seller to Trusted Seller and whether the threshold feels fair for low-ticket businesses.</a:t>
            </a:r>
            <a:endParaRPr lang="en-US" sz="8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C756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2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EDUHACKERS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321040" y="2011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 build research - not final implementation spec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11480" y="502920"/>
            <a:ext cx="11384280" cy="0"/>
          </a:xfrm>
          <a:prstGeom prst="line">
            <a:avLst/>
          </a:prstGeom>
          <a:noFill/>
          <a:ln w="12700">
            <a:solidFill>
              <a:srgbClr val="D7CCB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7665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1D23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Protected payments research flow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0160">
            <a:solidFill>
              <a:srgbClr val="D7CCB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6539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6861"/>
                </a:solidFill>
              </a:rPr>
              <a:t>Scope: all Eduvos campuses | Build model must be validated by user research, policy, legal and payment-provider checks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2011680" y="2514600"/>
            <a:ext cx="960120" cy="0"/>
          </a:xfrm>
          <a:prstGeom prst="line">
            <a:avLst/>
          </a:prstGeom>
          <a:noFill/>
          <a:ln w="16510">
            <a:solidFill>
              <a:srgbClr val="66725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160520" y="2514600"/>
            <a:ext cx="960120" cy="0"/>
          </a:xfrm>
          <a:prstGeom prst="line">
            <a:avLst/>
          </a:prstGeom>
          <a:noFill/>
          <a:ln w="16510">
            <a:solidFill>
              <a:srgbClr val="66725A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309360" y="2514600"/>
            <a:ext cx="960120" cy="0"/>
          </a:xfrm>
          <a:prstGeom prst="line">
            <a:avLst/>
          </a:prstGeom>
          <a:noFill/>
          <a:ln w="16510">
            <a:solidFill>
              <a:srgbClr val="66725A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458200" y="2514600"/>
            <a:ext cx="960120" cy="0"/>
          </a:xfrm>
          <a:prstGeom prst="line">
            <a:avLst/>
          </a:prstGeom>
          <a:noFill/>
          <a:ln w="16510">
            <a:solidFill>
              <a:srgbClr val="66725A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85800" y="2057400"/>
            <a:ext cx="1463040" cy="914400"/>
          </a:xfrm>
          <a:prstGeom prst="roundRect">
            <a:avLst>
              <a:gd name="adj" fmla="val 9000"/>
            </a:avLst>
          </a:prstGeom>
          <a:solidFill>
            <a:srgbClr val="EFE8DA"/>
          </a:solidFill>
          <a:ln w="13970">
            <a:solidFill>
              <a:srgbClr val="6672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2203704"/>
            <a:ext cx="1316736" cy="7680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Buyer pays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card / EFT / Ozow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2880360" y="2057400"/>
            <a:ext cx="1463040" cy="914400"/>
          </a:xfrm>
          <a:prstGeom prst="roundRect">
            <a:avLst>
              <a:gd name="adj" fmla="val 9000"/>
            </a:avLst>
          </a:prstGeom>
          <a:solidFill>
            <a:srgbClr val="FFFDF7"/>
          </a:solidFill>
          <a:ln w="13970">
            <a:solidFill>
              <a:srgbClr val="B46E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53512" y="2203704"/>
            <a:ext cx="1316736" cy="7680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PSP protects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funds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5074920" y="2057400"/>
            <a:ext cx="1463040" cy="914400"/>
          </a:xfrm>
          <a:prstGeom prst="roundRect">
            <a:avLst>
              <a:gd name="adj" fmla="val 9000"/>
            </a:avLst>
          </a:prstGeom>
          <a:solidFill>
            <a:srgbClr val="FFFDF7"/>
          </a:solidFill>
          <a:ln w="13970">
            <a:solidFill>
              <a:srgbClr val="6672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48072" y="2203704"/>
            <a:ext cx="1316736" cy="7680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Seller fulfils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order/service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7269480" y="2057400"/>
            <a:ext cx="14630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3970">
            <a:solidFill>
              <a:srgbClr val="6672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42632" y="2203704"/>
            <a:ext cx="1316736" cy="7680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Buyer confirms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completion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9464040" y="2057400"/>
            <a:ext cx="1463040" cy="914400"/>
          </a:xfrm>
          <a:prstGeom prst="roundRect">
            <a:avLst>
              <a:gd name="adj" fmla="val 9000"/>
            </a:avLst>
          </a:prstGeom>
          <a:solidFill>
            <a:srgbClr val="EFE8DA"/>
          </a:solidFill>
          <a:ln w="13970">
            <a:solidFill>
              <a:srgbClr val="6672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37192" y="2203704"/>
            <a:ext cx="1316736" cy="7680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 payout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 2% commission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868680" y="3858768"/>
            <a:ext cx="10241280" cy="342900"/>
          </a:xfrm>
          <a:prstGeom prst="rect">
            <a:avLst/>
          </a:prstGeom>
          <a:solidFill>
            <a:srgbClr val="243831"/>
          </a:solidFill>
          <a:ln w="7620">
            <a:solidFill>
              <a:srgbClr val="24383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5256" y="3931920"/>
            <a:ext cx="2487168" cy="2514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issue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3465576" y="3931920"/>
            <a:ext cx="4228186" cy="2514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7766914" y="3931920"/>
            <a:ext cx="3306470" cy="2514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868680" y="4201668"/>
            <a:ext cx="10241280" cy="342900"/>
          </a:xfrm>
          <a:prstGeom prst="rect">
            <a:avLst/>
          </a:prstGeom>
          <a:solidFill>
            <a:srgbClr val="FFFFFF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5256" y="4256532"/>
            <a:ext cx="2487168" cy="2697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2% commission vs PSP fees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465576" y="4256532"/>
            <a:ext cx="4228186" cy="2697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Card/payment fees may exceed app commission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766914" y="4256532"/>
            <a:ext cx="3306470" cy="2697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fee bearer explicitly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68680" y="4544568"/>
            <a:ext cx="10241280" cy="342900"/>
          </a:xfrm>
          <a:prstGeom prst="rect">
            <a:avLst/>
          </a:prstGeom>
          <a:solidFill>
            <a:srgbClr val="F5F1E9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5256" y="4599432"/>
            <a:ext cx="2487168" cy="2697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Held funds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465576" y="4599432"/>
            <a:ext cx="4228186" cy="2697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Could trigger PSP/PASA/legal obligations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766914" y="4599432"/>
            <a:ext cx="3306470" cy="2697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provider-held state, not raw Eduvos custody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68680" y="4887468"/>
            <a:ext cx="10241280" cy="342900"/>
          </a:xfrm>
          <a:prstGeom prst="rect">
            <a:avLst/>
          </a:prstGeom>
          <a:solidFill>
            <a:srgbClr val="FFFFFF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5256" y="4942332"/>
            <a:ext cx="2487168" cy="2697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Disputes/refunds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465576" y="4942332"/>
            <a:ext cx="4228186" cy="2697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 partial/full refund and evidence trail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766914" y="4942332"/>
            <a:ext cx="3306470" cy="2697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 states before live funds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C756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2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EDUHACKERS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321040" y="2011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 build research - not final implementation spec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11480" y="502920"/>
            <a:ext cx="11384280" cy="0"/>
          </a:xfrm>
          <a:prstGeom prst="line">
            <a:avLst/>
          </a:prstGeom>
          <a:noFill/>
          <a:ln w="12700">
            <a:solidFill>
              <a:srgbClr val="D7CCB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7665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1D23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Fulfilment model: pickup, seller delivery, student courier and cross-campus fallback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0160">
            <a:solidFill>
              <a:srgbClr val="D7CCB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6539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6861"/>
                </a:solidFill>
              </a:rPr>
              <a:t>Scope: all Eduvos campuses | Build model must be validated by user research, policy, legal and payment-provider checks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594360" y="141732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DF7"/>
          </a:solidFill>
          <a:ln w="9525">
            <a:solidFill>
              <a:srgbClr val="D7CC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" y="1563624"/>
            <a:ext cx="231343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3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Campus pickup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0664" y="1892808"/>
            <a:ext cx="2313432" cy="7406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Designated pickup zones, safe handoff points, QR/PIN confirmation, evidence timestamp.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3429000" y="141732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DF7"/>
          </a:solidFill>
          <a:ln w="9525">
            <a:solidFill>
              <a:srgbClr val="D7CCB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75304" y="1563624"/>
            <a:ext cx="231343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3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Seller delivery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75304" y="1892808"/>
            <a:ext cx="2313432" cy="7406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Seller handles delivery, status updates, handoff proof and delivery-fee rules.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6263640" y="141732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DF7"/>
          </a:solidFill>
          <a:ln w="9525">
            <a:solidFill>
              <a:srgbClr val="D7CCB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9944" y="1563624"/>
            <a:ext cx="231343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3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courier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9944" y="1892808"/>
            <a:ext cx="2313432" cy="7406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/ approved couriers, task assignment, proof-of-handoff and limited live location.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9098280" y="1417320"/>
            <a:ext cx="2423160" cy="1325880"/>
          </a:xfrm>
          <a:prstGeom prst="roundRect">
            <a:avLst>
              <a:gd name="adj" fmla="val 5517"/>
            </a:avLst>
          </a:prstGeom>
          <a:solidFill>
            <a:srgbClr val="FFFDF7"/>
          </a:solidFill>
          <a:ln w="9525">
            <a:solidFill>
              <a:srgbClr val="D7CCB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44584" y="1563624"/>
            <a:ext cx="213055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3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Cross-campus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244584" y="1892808"/>
            <a:ext cx="2130552" cy="7406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courier between campuses, seller ships to buyer campus, or buyer collects elsewhere.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914400" y="3703320"/>
            <a:ext cx="5120640" cy="1143000"/>
          </a:xfrm>
          <a:prstGeom prst="roundRect">
            <a:avLst>
              <a:gd name="adj" fmla="val 6400"/>
            </a:avLst>
          </a:prstGeom>
          <a:solidFill>
            <a:srgbClr val="EFE8DA"/>
          </a:solidFill>
          <a:ln w="9525">
            <a:solidFill>
              <a:srgbClr val="D7CCB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0704" y="3849624"/>
            <a:ext cx="482803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3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research question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60704" y="4178808"/>
            <a:ext cx="4828032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what point does cross-campus fallback create value, and when does it create more friction than a request/waitlist?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309360" y="3703320"/>
            <a:ext cx="4937760" cy="1143000"/>
          </a:xfrm>
          <a:prstGeom prst="roundRect">
            <a:avLst>
              <a:gd name="adj" fmla="val 6400"/>
            </a:avLst>
          </a:prstGeom>
          <a:solidFill>
            <a:srgbClr val="F8F5ED"/>
          </a:solidFill>
          <a:ln w="9525">
            <a:solidFill>
              <a:srgbClr val="D7CCB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55664" y="3849624"/>
            <a:ext cx="464515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3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 model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55664" y="4178808"/>
            <a:ext cx="4645152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Pickup code, courier scan, before/after condition photos, delivery photo, buyer confirmation and dispute evidence.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C756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2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EDUHACKERS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321040" y="2011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 build research - not final implementation spec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11480" y="502920"/>
            <a:ext cx="11384280" cy="0"/>
          </a:xfrm>
          <a:prstGeom prst="line">
            <a:avLst/>
          </a:prstGeom>
          <a:noFill/>
          <a:ln w="12700">
            <a:solidFill>
              <a:srgbClr val="D7CCB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7665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1D23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compliance and moderation architecture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0160">
            <a:solidFill>
              <a:srgbClr val="D7CCB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6539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6861"/>
                </a:solidFill>
              </a:rPr>
              <a:t>Scope: all Eduvos campuses | Build model must be validated by user research, policy, legal and payment-provider checks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1828800" y="2331720"/>
            <a:ext cx="1005840" cy="0"/>
          </a:xfrm>
          <a:prstGeom prst="line">
            <a:avLst/>
          </a:prstGeom>
          <a:noFill/>
          <a:ln w="16510">
            <a:solidFill>
              <a:srgbClr val="66725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114800" y="2331720"/>
            <a:ext cx="1005840" cy="0"/>
          </a:xfrm>
          <a:prstGeom prst="line">
            <a:avLst/>
          </a:prstGeom>
          <a:noFill/>
          <a:ln w="16510">
            <a:solidFill>
              <a:srgbClr val="66725A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400800" y="2331720"/>
            <a:ext cx="1005840" cy="0"/>
          </a:xfrm>
          <a:prstGeom prst="line">
            <a:avLst/>
          </a:prstGeom>
          <a:noFill/>
          <a:ln w="16510">
            <a:solidFill>
              <a:srgbClr val="66725A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686800" y="2331720"/>
            <a:ext cx="1005840" cy="0"/>
          </a:xfrm>
          <a:prstGeom prst="line">
            <a:avLst/>
          </a:prstGeom>
          <a:noFill/>
          <a:ln w="16510">
            <a:solidFill>
              <a:srgbClr val="66725A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85800" y="1874520"/>
            <a:ext cx="1417320" cy="914400"/>
          </a:xfrm>
          <a:prstGeom prst="roundRect">
            <a:avLst>
              <a:gd name="adj" fmla="val 9000"/>
            </a:avLst>
          </a:prstGeom>
          <a:solidFill>
            <a:srgbClr val="EFE8DA"/>
          </a:solidFill>
          <a:ln w="13970">
            <a:solidFill>
              <a:srgbClr val="6672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2020824"/>
            <a:ext cx="1271016" cy="7680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Listing / content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submitted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2743200" y="1874520"/>
            <a:ext cx="1417320" cy="914400"/>
          </a:xfrm>
          <a:prstGeom prst="roundRect">
            <a:avLst>
              <a:gd name="adj" fmla="val 9000"/>
            </a:avLst>
          </a:prstGeom>
          <a:solidFill>
            <a:srgbClr val="FFFDF7"/>
          </a:solidFill>
          <a:ln w="13970">
            <a:solidFill>
              <a:srgbClr val="C9A6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16352" y="2020824"/>
            <a:ext cx="1271016" cy="7680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policy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classifier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5074920" y="1874520"/>
            <a:ext cx="1417320" cy="914400"/>
          </a:xfrm>
          <a:prstGeom prst="roundRect">
            <a:avLst>
              <a:gd name="adj" fmla="val 9000"/>
            </a:avLst>
          </a:prstGeom>
          <a:solidFill>
            <a:srgbClr val="FFFDF7"/>
          </a:solidFill>
          <a:ln w="13970">
            <a:solidFill>
              <a:srgbClr val="B46E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48072" y="2020824"/>
            <a:ext cx="1271016" cy="7680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 / hold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reason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7360920" y="1874520"/>
            <a:ext cx="1417320" cy="914400"/>
          </a:xfrm>
          <a:prstGeom prst="roundRect">
            <a:avLst>
              <a:gd name="adj" fmla="val 9000"/>
            </a:avLst>
          </a:prstGeom>
          <a:solidFill>
            <a:srgbClr val="FFFDF7"/>
          </a:solidFill>
          <a:ln w="13970">
            <a:solidFill>
              <a:srgbClr val="6672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34072" y="2020824"/>
            <a:ext cx="1271016" cy="7680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Moderator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9601200" y="1874520"/>
            <a:ext cx="1691640" cy="914400"/>
          </a:xfrm>
          <a:prstGeom prst="roundRect">
            <a:avLst>
              <a:gd name="adj" fmla="val 9000"/>
            </a:avLst>
          </a:prstGeom>
          <a:solidFill>
            <a:srgbClr val="EFE8DA"/>
          </a:solidFill>
          <a:ln w="13970">
            <a:solidFill>
              <a:srgbClr val="6672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74352" y="2020824"/>
            <a:ext cx="1545336" cy="7680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 / warn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probation / appeal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868680" y="3749040"/>
            <a:ext cx="10241280" cy="292608"/>
          </a:xfrm>
          <a:prstGeom prst="rect">
            <a:avLst/>
          </a:prstGeom>
          <a:solidFill>
            <a:srgbClr val="243831"/>
          </a:solidFill>
          <a:ln w="7620">
            <a:solidFill>
              <a:srgbClr val="24383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5256" y="3822192"/>
            <a:ext cx="248716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use case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3465576" y="3822192"/>
            <a:ext cx="351129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reduced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7050024" y="3822192"/>
            <a:ext cx="40233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control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868680" y="4041648"/>
            <a:ext cx="1024128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5256" y="4096512"/>
            <a:ext cx="2487168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Prohibited items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465576" y="4096512"/>
            <a:ext cx="35112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 listings, banned services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050024" y="4096512"/>
            <a:ext cx="4023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and appeal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68680" y="4334256"/>
            <a:ext cx="10241280" cy="292608"/>
          </a:xfrm>
          <a:prstGeom prst="rect">
            <a:avLst/>
          </a:prstGeom>
          <a:solidFill>
            <a:srgbClr val="F5F1E9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5256" y="4389120"/>
            <a:ext cx="2487168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Food ingredients/allergens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465576" y="4389120"/>
            <a:ext cx="35112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disclosure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050024" y="4389120"/>
            <a:ext cx="4023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cannot certify hygiene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68680" y="4626864"/>
            <a:ext cx="1024128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5256" y="4681728"/>
            <a:ext cx="2487168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 clustering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465576" y="4681728"/>
            <a:ext cx="35112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missed opportunities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050024" y="4681728"/>
            <a:ext cx="4023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 validates strategy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868680" y="4919472"/>
            <a:ext cx="10241280" cy="292608"/>
          </a:xfrm>
          <a:prstGeom prst="rect">
            <a:avLst/>
          </a:prstGeom>
          <a:solidFill>
            <a:srgbClr val="F5F1E9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05256" y="4974336"/>
            <a:ext cx="2487168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Seller coaching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465576" y="4974336"/>
            <a:ext cx="35112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friction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050024" y="4974336"/>
            <a:ext cx="4023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staff-approved interventions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C756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2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EDUHACKERS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321040" y="2011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 build research - not final implementation spec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11480" y="502920"/>
            <a:ext cx="11384280" cy="0"/>
          </a:xfrm>
          <a:prstGeom prst="line">
            <a:avLst/>
          </a:prstGeom>
          <a:noFill/>
          <a:ln w="12700">
            <a:solidFill>
              <a:srgbClr val="D7CCB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7665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1D23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Demand Intelligence pipeline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0160">
            <a:solidFill>
              <a:srgbClr val="D7CCB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6539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6861"/>
                </a:solidFill>
              </a:rPr>
              <a:t>Scope: all Eduvos campuses | Build model must be validated by user research, policy, legal and payment-provider checks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1920240" y="2468880"/>
            <a:ext cx="960120" cy="0"/>
          </a:xfrm>
          <a:prstGeom prst="line">
            <a:avLst/>
          </a:prstGeom>
          <a:noFill/>
          <a:ln w="16510">
            <a:solidFill>
              <a:srgbClr val="66725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160520" y="2468880"/>
            <a:ext cx="960120" cy="0"/>
          </a:xfrm>
          <a:prstGeom prst="line">
            <a:avLst/>
          </a:prstGeom>
          <a:noFill/>
          <a:ln w="16510">
            <a:solidFill>
              <a:srgbClr val="66725A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446520" y="2468880"/>
            <a:ext cx="960120" cy="0"/>
          </a:xfrm>
          <a:prstGeom prst="line">
            <a:avLst/>
          </a:prstGeom>
          <a:noFill/>
          <a:ln w="16510">
            <a:solidFill>
              <a:srgbClr val="66725A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732520" y="2468880"/>
            <a:ext cx="960120" cy="0"/>
          </a:xfrm>
          <a:prstGeom prst="line">
            <a:avLst/>
          </a:prstGeom>
          <a:noFill/>
          <a:ln w="16510">
            <a:solidFill>
              <a:srgbClr val="66725A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85800" y="1975104"/>
            <a:ext cx="1417320" cy="987552"/>
          </a:xfrm>
          <a:prstGeom prst="roundRect">
            <a:avLst>
              <a:gd name="adj" fmla="val 8333"/>
            </a:avLst>
          </a:prstGeom>
          <a:solidFill>
            <a:srgbClr val="EFE8DA"/>
          </a:solidFill>
          <a:ln w="13970">
            <a:solidFill>
              <a:srgbClr val="6672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2121408"/>
            <a:ext cx="1271016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/ stockout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2743200" y="1975104"/>
            <a:ext cx="1508760" cy="987552"/>
          </a:xfrm>
          <a:prstGeom prst="roundRect">
            <a:avLst>
              <a:gd name="adj" fmla="val 8333"/>
            </a:avLst>
          </a:prstGeom>
          <a:solidFill>
            <a:srgbClr val="FFFDF7"/>
          </a:solidFill>
          <a:ln w="13970">
            <a:solidFill>
              <a:srgbClr val="6672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16352" y="2121408"/>
            <a:ext cx="1362456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Zero-result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4983480" y="1975104"/>
            <a:ext cx="1600200" cy="987552"/>
          </a:xfrm>
          <a:prstGeom prst="roundRect">
            <a:avLst>
              <a:gd name="adj" fmla="val 8333"/>
            </a:avLst>
          </a:prstGeom>
          <a:solidFill>
            <a:srgbClr val="FFFDF7"/>
          </a:solidFill>
          <a:ln w="13970">
            <a:solidFill>
              <a:srgbClr val="6672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56632" y="2121408"/>
            <a:ext cx="1453896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Cluster by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campus + category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7223760" y="1975104"/>
            <a:ext cx="1600200" cy="987552"/>
          </a:xfrm>
          <a:prstGeom prst="roundRect">
            <a:avLst>
              <a:gd name="adj" fmla="val 8333"/>
            </a:avLst>
          </a:prstGeom>
          <a:solidFill>
            <a:srgbClr val="FFFDF7"/>
          </a:solidFill>
          <a:ln w="13970">
            <a:solidFill>
              <a:srgbClr val="C9A6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96912" y="2121408"/>
            <a:ext cx="1453896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Opportunity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9464040" y="1975104"/>
            <a:ext cx="1600200" cy="987552"/>
          </a:xfrm>
          <a:prstGeom prst="roundRect">
            <a:avLst>
              <a:gd name="adj" fmla="val 8333"/>
            </a:avLst>
          </a:prstGeom>
          <a:solidFill>
            <a:srgbClr val="EFE8DA"/>
          </a:solidFill>
          <a:ln w="13970">
            <a:solidFill>
              <a:srgbClr val="6672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37192" y="2121408"/>
            <a:ext cx="1453896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Seller / Hub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868680" y="397764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F8F5ED"/>
          </a:solidFill>
          <a:ln w="9525">
            <a:solidFill>
              <a:srgbClr val="D7CCB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14984" y="4123944"/>
            <a:ext cx="482803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3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 rule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14984" y="4453128"/>
            <a:ext cx="4828032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 signals should aggregate repeated behaviour. Do not expose individual search histories to sellers or staff unless a user intentionally posts a request.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6263640" y="3977640"/>
            <a:ext cx="4846320" cy="1051560"/>
          </a:xfrm>
          <a:prstGeom prst="roundRect">
            <a:avLst>
              <a:gd name="adj" fmla="val 6957"/>
            </a:avLst>
          </a:prstGeom>
          <a:solidFill>
            <a:srgbClr val="F8F5ED"/>
          </a:solidFill>
          <a:ln w="9525">
            <a:solidFill>
              <a:srgbClr val="D7CCB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9944" y="4123944"/>
            <a:ext cx="455371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3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metric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9944" y="4453128"/>
            <a:ext cx="4553712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Opportunity conversion: unmet demand -&gt; tested offer -&gt; completed transaction -&gt; Incubation support where useful.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C756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2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EDUHACKERS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321040" y="2011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 build research - not final implementation spec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11480" y="502920"/>
            <a:ext cx="11384280" cy="0"/>
          </a:xfrm>
          <a:prstGeom prst="line">
            <a:avLst/>
          </a:prstGeom>
          <a:noFill/>
          <a:ln w="12700">
            <a:solidFill>
              <a:srgbClr val="D7CCB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7665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1D23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GitHub repository setup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0160">
            <a:solidFill>
              <a:srgbClr val="D7CCB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6539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6861"/>
                </a:solidFill>
              </a:rPr>
              <a:t>Scope: all Eduvos campuses | Build model must be validated by user research, policy, legal and payment-provider checks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594360" y="1417320"/>
            <a:ext cx="10972800" cy="485775"/>
          </a:xfrm>
          <a:prstGeom prst="rect">
            <a:avLst/>
          </a:prstGeom>
          <a:solidFill>
            <a:srgbClr val="243831"/>
          </a:solidFill>
          <a:ln w="7620">
            <a:solidFill>
              <a:srgbClr val="2438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" y="1490472"/>
            <a:ext cx="1901952" cy="39433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Area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2606040" y="1490472"/>
            <a:ext cx="4754880" cy="39433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setup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7434072" y="1490472"/>
            <a:ext cx="4096512" cy="39433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594360" y="1903095"/>
            <a:ext cx="10972800" cy="485775"/>
          </a:xfrm>
          <a:prstGeom prst="rect">
            <a:avLst/>
          </a:prstGeom>
          <a:solidFill>
            <a:srgbClr val="FFFFFF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" y="1957959"/>
            <a:ext cx="1901952" cy="41262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606040" y="1957959"/>
            <a:ext cx="4754880" cy="41262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GitHub repo: eduhackers-marketplace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434072" y="1957959"/>
            <a:ext cx="4096512" cy="41262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IP and coordinate team work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94360" y="2388870"/>
            <a:ext cx="10972800" cy="485775"/>
          </a:xfrm>
          <a:prstGeom prst="rect">
            <a:avLst/>
          </a:prstGeom>
          <a:solidFill>
            <a:srgbClr val="F5F1E9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" y="2443734"/>
            <a:ext cx="1901952" cy="41262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Branches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606040" y="2443734"/>
            <a:ext cx="4754880" cy="41262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main, develop, feature/*, fix/*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434072" y="2443734"/>
            <a:ext cx="4096512" cy="41262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merge path and demo stability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874645"/>
            <a:ext cx="10972800" cy="485775"/>
          </a:xfrm>
          <a:prstGeom prst="rect">
            <a:avLst/>
          </a:prstGeom>
          <a:solidFill>
            <a:srgbClr val="FFFFFF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" y="2929509"/>
            <a:ext cx="1901952" cy="41262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board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606040" y="2929509"/>
            <a:ext cx="4754880" cy="41262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Backlog, Ready, In Progress, Review, Testing, Done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434072" y="2929509"/>
            <a:ext cx="4096512" cy="41262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execution view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94360" y="3360420"/>
            <a:ext cx="10972800" cy="485775"/>
          </a:xfrm>
          <a:prstGeom prst="rect">
            <a:avLst/>
          </a:prstGeom>
          <a:solidFill>
            <a:srgbClr val="F5F1E9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" y="3415284"/>
            <a:ext cx="1901952" cy="41262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 templates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606040" y="3415284"/>
            <a:ext cx="4754880" cy="41262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feature, bug, research spike, design task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434072" y="3415284"/>
            <a:ext cx="4096512" cy="41262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work intake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94360" y="3846195"/>
            <a:ext cx="10972800" cy="485775"/>
          </a:xfrm>
          <a:prstGeom prst="rect">
            <a:avLst/>
          </a:prstGeom>
          <a:solidFill>
            <a:srgbClr val="FFFFFF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" y="3901059"/>
            <a:ext cx="1901952" cy="41262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 template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606040" y="3901059"/>
            <a:ext cx="4754880" cy="41262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screenshots, tests, security, issue link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434072" y="3901059"/>
            <a:ext cx="4096512" cy="41262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prevent unreviewed changes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94360" y="4331970"/>
            <a:ext cx="10972800" cy="485775"/>
          </a:xfrm>
          <a:prstGeom prst="rect">
            <a:avLst/>
          </a:prstGeom>
          <a:solidFill>
            <a:srgbClr val="F5F1E9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" y="4386834"/>
            <a:ext cx="1901952" cy="41262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CODEOWNERS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606040" y="4386834"/>
            <a:ext cx="4754880" cy="41262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Paballo for code; UX/Product review where needed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434072" y="4386834"/>
            <a:ext cx="4096512" cy="41262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review responsibility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94360" y="4817745"/>
            <a:ext cx="10972800" cy="485775"/>
          </a:xfrm>
          <a:prstGeom prst="rect">
            <a:avLst/>
          </a:prstGeom>
          <a:solidFill>
            <a:srgbClr val="FFFFFF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" y="4872609"/>
            <a:ext cx="1901952" cy="41262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606040" y="4872609"/>
            <a:ext cx="4754880" cy="41262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/docs/adr, /docs/api, /docs/research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434072" y="4872609"/>
            <a:ext cx="4096512" cy="41262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+ technical decisions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85800" y="5852160"/>
            <a:ext cx="10058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243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Rule: no direct commits to main; every feature should link to research, requirement and test evidence.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C756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2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EDUHACKERS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321040" y="2011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 build research - not final implementation spec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11480" y="502920"/>
            <a:ext cx="11384280" cy="0"/>
          </a:xfrm>
          <a:prstGeom prst="line">
            <a:avLst/>
          </a:prstGeom>
          <a:noFill/>
          <a:ln w="12700">
            <a:solidFill>
              <a:srgbClr val="D7CCB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7665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1D23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workflow by role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0160">
            <a:solidFill>
              <a:srgbClr val="D7CCB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6539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6861"/>
                </a:solidFill>
              </a:rPr>
              <a:t>Scope: all Eduvos campuses | Build model must be validated by user research, policy, legal and payment-provider checks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2011680" y="2194560"/>
            <a:ext cx="914400" cy="0"/>
          </a:xfrm>
          <a:prstGeom prst="line">
            <a:avLst/>
          </a:prstGeom>
          <a:noFill/>
          <a:ln w="16510">
            <a:solidFill>
              <a:srgbClr val="66725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023360" y="2194560"/>
            <a:ext cx="914400" cy="0"/>
          </a:xfrm>
          <a:prstGeom prst="line">
            <a:avLst/>
          </a:prstGeom>
          <a:noFill/>
          <a:ln w="16510">
            <a:solidFill>
              <a:srgbClr val="66725A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035040" y="2194560"/>
            <a:ext cx="914400" cy="0"/>
          </a:xfrm>
          <a:prstGeom prst="line">
            <a:avLst/>
          </a:prstGeom>
          <a:noFill/>
          <a:ln w="16510">
            <a:solidFill>
              <a:srgbClr val="66725A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046720" y="2194560"/>
            <a:ext cx="914400" cy="0"/>
          </a:xfrm>
          <a:prstGeom prst="line">
            <a:avLst/>
          </a:prstGeom>
          <a:noFill/>
          <a:ln w="16510">
            <a:solidFill>
              <a:srgbClr val="66725A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0058400" y="2194560"/>
            <a:ext cx="640080" cy="0"/>
          </a:xfrm>
          <a:prstGeom prst="line">
            <a:avLst/>
          </a:prstGeom>
          <a:noFill/>
          <a:ln w="16510">
            <a:solidFill>
              <a:srgbClr val="66725A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85800" y="1737360"/>
            <a:ext cx="1463040" cy="914400"/>
          </a:xfrm>
          <a:prstGeom prst="roundRect">
            <a:avLst>
              <a:gd name="adj" fmla="val 9000"/>
            </a:avLst>
          </a:prstGeom>
          <a:solidFill>
            <a:srgbClr val="EFE8DA"/>
          </a:solidFill>
          <a:ln w="13970">
            <a:solidFill>
              <a:srgbClr val="6672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1883664"/>
            <a:ext cx="1316736" cy="7680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2743200" y="1737360"/>
            <a:ext cx="1463040" cy="914400"/>
          </a:xfrm>
          <a:prstGeom prst="roundRect">
            <a:avLst>
              <a:gd name="adj" fmla="val 9000"/>
            </a:avLst>
          </a:prstGeom>
          <a:solidFill>
            <a:srgbClr val="FFFDF7"/>
          </a:solidFill>
          <a:ln w="13970">
            <a:solidFill>
              <a:srgbClr val="6672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16352" y="1883664"/>
            <a:ext cx="1316736" cy="7680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 user story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800600" y="1737360"/>
            <a:ext cx="1463040" cy="914400"/>
          </a:xfrm>
          <a:prstGeom prst="roundRect">
            <a:avLst>
              <a:gd name="adj" fmla="val 9000"/>
            </a:avLst>
          </a:prstGeom>
          <a:solidFill>
            <a:srgbClr val="FFFDF7"/>
          </a:solidFill>
          <a:ln w="13970">
            <a:solidFill>
              <a:srgbClr val="6672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1883664"/>
            <a:ext cx="1316736" cy="7680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Figma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6858000" y="1737360"/>
            <a:ext cx="1463040" cy="914400"/>
          </a:xfrm>
          <a:prstGeom prst="roundRect">
            <a:avLst>
              <a:gd name="adj" fmla="val 9000"/>
            </a:avLst>
          </a:prstGeom>
          <a:solidFill>
            <a:srgbClr val="FFFDF7"/>
          </a:solidFill>
          <a:ln w="13970">
            <a:solidFill>
              <a:srgbClr val="6672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31152" y="1883664"/>
            <a:ext cx="1316736" cy="7680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8915400" y="1737360"/>
            <a:ext cx="1463040" cy="914400"/>
          </a:xfrm>
          <a:prstGeom prst="roundRect">
            <a:avLst>
              <a:gd name="adj" fmla="val 9000"/>
            </a:avLst>
          </a:prstGeom>
          <a:solidFill>
            <a:srgbClr val="FFFDF7"/>
          </a:solidFill>
          <a:ln w="13970">
            <a:solidFill>
              <a:srgbClr val="6672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88552" y="1883664"/>
            <a:ext cx="1316736" cy="7680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Branch + PR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10561320" y="1737360"/>
            <a:ext cx="1280160" cy="914400"/>
          </a:xfrm>
          <a:prstGeom prst="roundRect">
            <a:avLst>
              <a:gd name="adj" fmla="val 9000"/>
            </a:avLst>
          </a:prstGeom>
          <a:solidFill>
            <a:srgbClr val="EFE8DA"/>
          </a:solidFill>
          <a:ln w="13970">
            <a:solidFill>
              <a:srgbClr val="6672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34472" y="1883664"/>
            <a:ext cx="1133856" cy="7680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+ demo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868680" y="3657600"/>
            <a:ext cx="10332720" cy="236220"/>
          </a:xfrm>
          <a:prstGeom prst="rect">
            <a:avLst/>
          </a:prstGeom>
          <a:solidFill>
            <a:srgbClr val="243831"/>
          </a:solidFill>
          <a:ln w="7620">
            <a:solidFill>
              <a:srgbClr val="24383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5256" y="3730752"/>
            <a:ext cx="2303374" cy="1447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3281782" y="3730752"/>
            <a:ext cx="7883042" cy="1447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they do in GitHub workflow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868680" y="3893820"/>
            <a:ext cx="10332720" cy="236220"/>
          </a:xfrm>
          <a:prstGeom prst="rect">
            <a:avLst/>
          </a:prstGeom>
          <a:solidFill>
            <a:srgbClr val="FFFFFF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5256" y="3948684"/>
            <a:ext cx="2303374" cy="1630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281782" y="3948684"/>
            <a:ext cx="7883042" cy="1630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prioritises issues, accepts scope, rejects creep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68680" y="4130040"/>
            <a:ext cx="10332720" cy="236220"/>
          </a:xfrm>
          <a:prstGeom prst="rect">
            <a:avLst/>
          </a:prstGeom>
          <a:solidFill>
            <a:srgbClr val="F5F1E9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5256" y="4184904"/>
            <a:ext cx="2303374" cy="1630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UX/UI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281782" y="4184904"/>
            <a:ext cx="7883042" cy="1630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attaches Figma, reviews frontend match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68680" y="4366260"/>
            <a:ext cx="10332720" cy="236220"/>
          </a:xfrm>
          <a:prstGeom prst="rect">
            <a:avLst/>
          </a:prstGeom>
          <a:solidFill>
            <a:srgbClr val="FFFFFF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5256" y="4421124"/>
            <a:ext cx="2303374" cy="1630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BA/Marketing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281782" y="4421124"/>
            <a:ext cx="7883042" cy="1630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adds requirements, business rules and adoption evidence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68680" y="4602480"/>
            <a:ext cx="10332720" cy="236220"/>
          </a:xfrm>
          <a:prstGeom prst="rect">
            <a:avLst/>
          </a:prstGeom>
          <a:solidFill>
            <a:srgbClr val="F5F1E9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5256" y="4657344"/>
            <a:ext cx="2303374" cy="1630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281782" y="4657344"/>
            <a:ext cx="7883042" cy="1630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implements, tests, documents, merges via PR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868680" y="4838700"/>
            <a:ext cx="10332720" cy="236220"/>
          </a:xfrm>
          <a:prstGeom prst="rect">
            <a:avLst/>
          </a:prstGeom>
          <a:solidFill>
            <a:srgbClr val="FFFFFF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05256" y="4893564"/>
            <a:ext cx="2303374" cy="1630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PM/Pitch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281782" y="4893564"/>
            <a:ext cx="7883042" cy="1630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tracks milestones and evidence for demo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C756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2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EDUHACKERS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321040" y="2011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 build research - not final implementation spec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11480" y="502920"/>
            <a:ext cx="11384280" cy="0"/>
          </a:xfrm>
          <a:prstGeom prst="line">
            <a:avLst/>
          </a:prstGeom>
          <a:noFill/>
          <a:ln w="12700">
            <a:solidFill>
              <a:srgbClr val="D7CCB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7665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1D23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Local, staging and production environments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0160">
            <a:solidFill>
              <a:srgbClr val="D7CCB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6539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6861"/>
                </a:solidFill>
              </a:rPr>
              <a:t>Scope: all Eduvos campuses | Build model must be validated by user research, policy, legal and payment-provider checks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594360" y="1417320"/>
            <a:ext cx="10972800" cy="850392"/>
          </a:xfrm>
          <a:prstGeom prst="rect">
            <a:avLst/>
          </a:prstGeom>
          <a:solidFill>
            <a:srgbClr val="243831"/>
          </a:solidFill>
          <a:ln w="7620">
            <a:solidFill>
              <a:srgbClr val="2438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" y="1490472"/>
            <a:ext cx="1901952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Environment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2606040" y="1490472"/>
            <a:ext cx="3767328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6446520" y="1490472"/>
            <a:ext cx="3218688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9738360" y="1490472"/>
            <a:ext cx="1792224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594360" y="2267712"/>
            <a:ext cx="10972800" cy="850392"/>
          </a:xfrm>
          <a:prstGeom prst="rect">
            <a:avLst/>
          </a:prstGeom>
          <a:solidFill>
            <a:srgbClr val="FFFFFF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2322576"/>
            <a:ext cx="1901952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606040" y="2322576"/>
            <a:ext cx="3767328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 build and unit tests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446520" y="2322576"/>
            <a:ext cx="3218688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seeded mock data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738360" y="2322576"/>
            <a:ext cx="1792224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 machine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118104"/>
            <a:ext cx="10972800" cy="850392"/>
          </a:xfrm>
          <a:prstGeom prst="rect">
            <a:avLst/>
          </a:prstGeom>
          <a:solidFill>
            <a:srgbClr val="F5F1E9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" y="3172968"/>
            <a:ext cx="1901952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Preview PR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606040" y="3172968"/>
            <a:ext cx="3767328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feature branches and UX implementation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446520" y="3172968"/>
            <a:ext cx="3218688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isolated or shared staging DB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738360" y="3172968"/>
            <a:ext cx="1792224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Vercel preview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94360" y="3968496"/>
            <a:ext cx="10972800" cy="850392"/>
          </a:xfrm>
          <a:prstGeom prst="rect">
            <a:avLst/>
          </a:prstGeom>
          <a:solidFill>
            <a:srgbClr val="FFFFFF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" y="4023360"/>
            <a:ext cx="1901952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Staging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606040" y="4023360"/>
            <a:ext cx="3767328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 testing and demo rehearsal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446520" y="4023360"/>
            <a:ext cx="3218688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realistic test data, no real money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738360" y="4023360"/>
            <a:ext cx="1792224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protected staging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94360" y="4818888"/>
            <a:ext cx="10972800" cy="850392"/>
          </a:xfrm>
          <a:prstGeom prst="rect">
            <a:avLst/>
          </a:prstGeom>
          <a:solidFill>
            <a:srgbClr val="F5F1E9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" y="4873752"/>
            <a:ext cx="1901952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Production/demo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606040" y="4873752"/>
            <a:ext cx="3767328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Hack Jam demo or pilot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446520" y="4873752"/>
            <a:ext cx="3218688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 accounts and seeded scenarios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9738360" y="4873752"/>
            <a:ext cx="1792224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branch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68680" y="5806440"/>
            <a:ext cx="10058400" cy="384048"/>
          </a:xfrm>
          <a:prstGeom prst="roundRect">
            <a:avLst>
              <a:gd name="adj" fmla="val 19048"/>
            </a:avLst>
          </a:prstGeom>
          <a:solidFill>
            <a:srgbClr val="EFE8DA"/>
          </a:solidFill>
          <a:ln w="9525">
            <a:solidFill>
              <a:srgbClr val="D7CCB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14984" y="5952744"/>
            <a:ext cx="976579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243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Environment variables</a:t>
            </a:r>
            <a:endParaRPr lang="en-US" sz="890" dirty="0"/>
          </a:p>
        </p:txBody>
      </p:sp>
      <p:sp>
        <p:nvSpPr>
          <p:cNvPr id="36" name="Text 34"/>
          <p:cNvSpPr/>
          <p:nvPr/>
        </p:nvSpPr>
        <p:spPr>
          <a:xfrm>
            <a:off x="1014984" y="6281928"/>
            <a:ext cx="9765792" cy="-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Never commit secrets. Use separate env keys for Supabase, PSP sandbox, AI APIs, storage, email/SMS and analytics.</a:t>
            </a:r>
            <a:endParaRPr lang="en-US" sz="8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C756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2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EDUHACKERS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321040" y="2011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 build research - not final implementation spec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11480" y="502920"/>
            <a:ext cx="11384280" cy="0"/>
          </a:xfrm>
          <a:prstGeom prst="line">
            <a:avLst/>
          </a:prstGeom>
          <a:noFill/>
          <a:ln w="12700">
            <a:solidFill>
              <a:srgbClr val="D7CCB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7665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1D23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Testing strategy: unit, component, E2E and security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0160">
            <a:solidFill>
              <a:srgbClr val="D7CCB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6539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6861"/>
                </a:solidFill>
              </a:rPr>
              <a:t>Scope: all Eduvos campuses | Build model must be validated by user research, policy, legal and payment-provider checks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594360" y="1325880"/>
            <a:ext cx="10972800" cy="627017"/>
          </a:xfrm>
          <a:prstGeom prst="rect">
            <a:avLst/>
          </a:prstGeom>
          <a:solidFill>
            <a:srgbClr val="243831"/>
          </a:solidFill>
          <a:ln w="7620">
            <a:solidFill>
              <a:srgbClr val="2438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" y="1399032"/>
            <a:ext cx="1901952" cy="53557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2606040" y="1399032"/>
            <a:ext cx="4864608" cy="53557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7543800" y="1399032"/>
            <a:ext cx="3986784" cy="53557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priority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594360" y="1952897"/>
            <a:ext cx="10972800" cy="627017"/>
          </a:xfrm>
          <a:prstGeom prst="rect">
            <a:avLst/>
          </a:prstGeom>
          <a:solidFill>
            <a:srgbClr val="FFFFFF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" y="2007761"/>
            <a:ext cx="1901952" cy="55386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606040" y="2007761"/>
            <a:ext cx="4864608" cy="55386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 calculations, status transitions, trust thresholds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543800" y="2007761"/>
            <a:ext cx="3986784" cy="55386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prevent hidden logic errors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94360" y="2579914"/>
            <a:ext cx="10972800" cy="627017"/>
          </a:xfrm>
          <a:prstGeom prst="rect">
            <a:avLst/>
          </a:prstGeom>
          <a:solidFill>
            <a:srgbClr val="F5F1E9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" y="2634778"/>
            <a:ext cx="1901952" cy="55386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606040" y="2634778"/>
            <a:ext cx="4864608" cy="55386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forms, empty states, filters, modals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543800" y="2634778"/>
            <a:ext cx="3986784" cy="55386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 Figma and accessibility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3206931"/>
            <a:ext cx="10972800" cy="627017"/>
          </a:xfrm>
          <a:prstGeom prst="rect">
            <a:avLst/>
          </a:prstGeom>
          <a:solidFill>
            <a:srgbClr val="FFFFFF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" y="3261795"/>
            <a:ext cx="1901952" cy="55386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E2E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606040" y="3261795"/>
            <a:ext cx="4864608" cy="55386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-&gt; order -&gt; payment hold -&gt; 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543800" y="3261795"/>
            <a:ext cx="3986784" cy="55386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 core loop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94360" y="3833949"/>
            <a:ext cx="10972800" cy="627017"/>
          </a:xfrm>
          <a:prstGeom prst="rect">
            <a:avLst/>
          </a:prstGeom>
          <a:solidFill>
            <a:srgbClr val="F5F1E9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" y="3888813"/>
            <a:ext cx="1901952" cy="55386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606040" y="3888813"/>
            <a:ext cx="4864608" cy="55386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object-level access, upload controls, rate limits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543800" y="3888813"/>
            <a:ext cx="3986784" cy="55386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trust system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94360" y="4460966"/>
            <a:ext cx="10972800" cy="627017"/>
          </a:xfrm>
          <a:prstGeom prst="rect">
            <a:avLst/>
          </a:prstGeom>
          <a:solidFill>
            <a:srgbClr val="FFFFFF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" y="4515830"/>
            <a:ext cx="1901952" cy="55386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Accessibility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606040" y="4515830"/>
            <a:ext cx="4864608" cy="55386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keyboard, contrast, focus, reflow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543800" y="4515830"/>
            <a:ext cx="3986784" cy="55386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 requirement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94360" y="5087983"/>
            <a:ext cx="10972800" cy="627017"/>
          </a:xfrm>
          <a:prstGeom prst="rect">
            <a:avLst/>
          </a:prstGeom>
          <a:solidFill>
            <a:srgbClr val="F5F1E9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" y="5142847"/>
            <a:ext cx="1901952" cy="55386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tests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606040" y="5142847"/>
            <a:ext cx="4864608" cy="55386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prohibited listing, food fields, dispute evidence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543800" y="5142847"/>
            <a:ext cx="3986784" cy="55386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 before launch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13232" y="5989320"/>
            <a:ext cx="102412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Highest-value E2E: buyer search fallback, seller onboarding, protected payment, service deposit, rental deposit, dispute, moderator review, demand intelligence.</a:t>
            </a:r>
            <a:endParaRPr lang="en-US" sz="8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C756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2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EDUHACKERS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321040" y="2011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 build research - not final implementation spec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11480" y="502920"/>
            <a:ext cx="11384280" cy="0"/>
          </a:xfrm>
          <a:prstGeom prst="line">
            <a:avLst/>
          </a:prstGeom>
          <a:noFill/>
          <a:ln w="12700">
            <a:solidFill>
              <a:srgbClr val="D7CCB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7665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1D23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and privacy research requirements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0160">
            <a:solidFill>
              <a:srgbClr val="D7CCB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6539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6861"/>
                </a:solidFill>
              </a:rPr>
              <a:t>Scope: all Eduvos campuses | Build model must be validated by user research, policy, legal and payment-provider checks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594360" y="141732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FFFDF7"/>
          </a:solidFill>
          <a:ln w="9525">
            <a:solidFill>
              <a:srgbClr val="D7CC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" y="1563624"/>
            <a:ext cx="313639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3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Object-level authorization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0664" y="1892808"/>
            <a:ext cx="3136392" cy="7863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listing, order, message, dispute, evidence file, payout reference and staff dashboard query must enforce ownership and role scope.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4389120" y="141732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FFFDF7"/>
          </a:solidFill>
          <a:ln w="9525">
            <a:solidFill>
              <a:srgbClr val="D7CCB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35424" y="1563624"/>
            <a:ext cx="313639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3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minimisation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35424" y="1892808"/>
            <a:ext cx="3136392" cy="7863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profiles should not reveal student number or government ID. Analytics should be pseudonymous and aggregated wherever possible.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8183880" y="141732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FFFDF7"/>
          </a:solidFill>
          <a:ln w="9525">
            <a:solidFill>
              <a:srgbClr val="D7CCB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0184" y="1563624"/>
            <a:ext cx="313639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3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handling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30184" y="1892808"/>
            <a:ext cx="3136392" cy="7863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Dispute files, delivery proof and condition photos need access controls, retention rules, audit trails and safe upload processing.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868680" y="3749040"/>
            <a:ext cx="10287000" cy="301752"/>
          </a:xfrm>
          <a:prstGeom prst="rect">
            <a:avLst/>
          </a:prstGeom>
          <a:solidFill>
            <a:srgbClr val="243831"/>
          </a:solidFill>
          <a:ln w="7620">
            <a:solidFill>
              <a:srgbClr val="24383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5256" y="3822192"/>
            <a:ext cx="3424428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4402836" y="3822192"/>
            <a:ext cx="6716268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control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868680" y="4050792"/>
            <a:ext cx="1028700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5256" y="4105656"/>
            <a:ext cx="342442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Fake seller / account takeover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402836" y="4105656"/>
            <a:ext cx="671626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verification, session security, rate limits, alerts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68680" y="4352544"/>
            <a:ext cx="10287000" cy="301752"/>
          </a:xfrm>
          <a:prstGeom prst="rect">
            <a:avLst/>
          </a:prstGeom>
          <a:solidFill>
            <a:srgbClr val="F5F1E9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5256" y="4407408"/>
            <a:ext cx="342442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Payout diversion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402836" y="4407408"/>
            <a:ext cx="671626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PSP references, payout authorization, audit logs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68680" y="4654296"/>
            <a:ext cx="1028700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5256" y="4709160"/>
            <a:ext cx="342442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Fraudulent disputes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402836" y="4709160"/>
            <a:ext cx="671626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chain, human moderation, reason codes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68680" y="4956048"/>
            <a:ext cx="10287000" cy="301752"/>
          </a:xfrm>
          <a:prstGeom prst="rect">
            <a:avLst/>
          </a:prstGeom>
          <a:solidFill>
            <a:srgbClr val="F5F1E9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5256" y="5010912"/>
            <a:ext cx="342442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moderation error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402836" y="5010912"/>
            <a:ext cx="671626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 thresholds, review and appeal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C756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2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EDUHACKERS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321040" y="2011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 build research - not final implementation spec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11480" y="502920"/>
            <a:ext cx="11384280" cy="0"/>
          </a:xfrm>
          <a:prstGeom prst="line">
            <a:avLst/>
          </a:prstGeom>
          <a:noFill/>
          <a:ln w="12700">
            <a:solidFill>
              <a:srgbClr val="D7CCB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7665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1D23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Developer build roadmap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0160">
            <a:solidFill>
              <a:srgbClr val="D7CCB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6539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6861"/>
                </a:solidFill>
              </a:rPr>
              <a:t>Scope: all Eduvos campuses | Build model must be validated by user research, policy, legal and payment-provider checks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594360" y="1280160"/>
            <a:ext cx="10972800" cy="565785"/>
          </a:xfrm>
          <a:prstGeom prst="rect">
            <a:avLst/>
          </a:prstGeom>
          <a:solidFill>
            <a:srgbClr val="243831"/>
          </a:solidFill>
          <a:ln w="7620">
            <a:solidFill>
              <a:srgbClr val="2438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" y="1353312"/>
            <a:ext cx="1243584" cy="47434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1947672" y="1353312"/>
            <a:ext cx="5413248" cy="47434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 focus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7434072" y="1353312"/>
            <a:ext cx="4096512" cy="47434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594360" y="1845945"/>
            <a:ext cx="10972800" cy="565785"/>
          </a:xfrm>
          <a:prstGeom prst="rect">
            <a:avLst/>
          </a:prstGeom>
          <a:solidFill>
            <a:srgbClr val="FFFFFF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" y="1900809"/>
            <a:ext cx="1243584" cy="49263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947672" y="1900809"/>
            <a:ext cx="5413248" cy="49263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spikes: identity, PSP, data model, RLS/RBAC, API map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434072" y="1900809"/>
            <a:ext cx="4096512" cy="49263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technical-risk readout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94360" y="2411730"/>
            <a:ext cx="10972800" cy="565785"/>
          </a:xfrm>
          <a:prstGeom prst="rect">
            <a:avLst/>
          </a:prstGeom>
          <a:solidFill>
            <a:srgbClr val="F5F1E9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" y="2466594"/>
            <a:ext cx="1243584" cy="49263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947672" y="2466594"/>
            <a:ext cx="5413248" cy="49263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setup, ADRs, ERD v0, OpenAPI draft, wireframe contracts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434072" y="2466594"/>
            <a:ext cx="4096512" cy="49263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build-ready specification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77515"/>
            <a:ext cx="10972800" cy="565785"/>
          </a:xfrm>
          <a:prstGeom prst="rect">
            <a:avLst/>
          </a:prstGeom>
          <a:solidFill>
            <a:srgbClr val="FFFFFF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" y="3032379"/>
            <a:ext cx="1243584" cy="49263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947672" y="3032379"/>
            <a:ext cx="5413248" cy="49263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scaffolding, component system, auth prototype, listing/search skeleton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434072" y="3032379"/>
            <a:ext cx="4096512" cy="49263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clickable technical prototype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94360" y="3543300"/>
            <a:ext cx="10972800" cy="565785"/>
          </a:xfrm>
          <a:prstGeom prst="rect">
            <a:avLst/>
          </a:prstGeom>
          <a:solidFill>
            <a:srgbClr val="F5F1E9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" y="3598164"/>
            <a:ext cx="1243584" cy="49263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947672" y="3598164"/>
            <a:ext cx="5413248" cy="49263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MVP flows: seller, listing, search fallback, order/payment-state stubs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434072" y="3598164"/>
            <a:ext cx="4096512" cy="49263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core loop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94360" y="4109085"/>
            <a:ext cx="10972800" cy="565785"/>
          </a:xfrm>
          <a:prstGeom prst="rect">
            <a:avLst/>
          </a:prstGeom>
          <a:solidFill>
            <a:srgbClr val="FFFFFF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" y="4163949"/>
            <a:ext cx="1243584" cy="49263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947672" y="4163949"/>
            <a:ext cx="5413248" cy="49263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E2E tests, security/accessibility checks, user testing fixes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434072" y="4163949"/>
            <a:ext cx="4096512" cy="49263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validated build evidence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94360" y="4674870"/>
            <a:ext cx="10972800" cy="565785"/>
          </a:xfrm>
          <a:prstGeom prst="rect">
            <a:avLst/>
          </a:prstGeom>
          <a:solidFill>
            <a:srgbClr val="F5F1E9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" y="4729734"/>
            <a:ext cx="1243584" cy="49263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947672" y="4729734"/>
            <a:ext cx="5413248" cy="49263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Hardening, demo data, observability, backup path, pitch technical diagrams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434072" y="4729734"/>
            <a:ext cx="4096512" cy="49263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demo-ready build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94360" y="5240655"/>
            <a:ext cx="10972800" cy="565785"/>
          </a:xfrm>
          <a:prstGeom prst="rect">
            <a:avLst/>
          </a:prstGeom>
          <a:solidFill>
            <a:srgbClr val="FFFFFF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" y="5295519"/>
            <a:ext cx="1243584" cy="49263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947672" y="5295519"/>
            <a:ext cx="5413248" cy="49263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Day: show evidence path and realistic implementation plan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434072" y="5295519"/>
            <a:ext cx="4096512" cy="49263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credibility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C756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2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EDUHACKERS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321040" y="2011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 build research - not final implementation spec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11480" y="502920"/>
            <a:ext cx="11384280" cy="0"/>
          </a:xfrm>
          <a:prstGeom prst="line">
            <a:avLst/>
          </a:prstGeom>
          <a:noFill/>
          <a:ln w="12700">
            <a:solidFill>
              <a:srgbClr val="D7CCB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7665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1D23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Paballo’s immediate developer/research workplan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0160">
            <a:solidFill>
              <a:srgbClr val="D7CCB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6539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6861"/>
                </a:solidFill>
              </a:rPr>
              <a:t>Scope: all Eduvos campuses | Build model must be validated by user research, policy, legal and payment-provider checks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685800" y="1417320"/>
            <a:ext cx="3383280" cy="1874520"/>
          </a:xfrm>
          <a:prstGeom prst="roundRect">
            <a:avLst>
              <a:gd name="adj" fmla="val 3902"/>
            </a:avLst>
          </a:prstGeom>
          <a:solidFill>
            <a:srgbClr val="F8F5ED"/>
          </a:solidFill>
          <a:ln w="9525">
            <a:solidFill>
              <a:srgbClr val="D7CC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" y="1563624"/>
            <a:ext cx="309067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3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week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2104" y="1892808"/>
            <a:ext cx="3090672" cy="1289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tech-stack assumptions. Create ERD v0. Draft OpenAPI map. Define RBAC matrix. Research PSP held-funds model. Prepare GitHub repo plan. Create E2E test list.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4434840" y="1417320"/>
            <a:ext cx="3383280" cy="1874520"/>
          </a:xfrm>
          <a:prstGeom prst="roundRect">
            <a:avLst>
              <a:gd name="adj" fmla="val 3902"/>
            </a:avLst>
          </a:prstGeom>
          <a:solidFill>
            <a:srgbClr val="F8F5ED"/>
          </a:solidFill>
          <a:ln w="9525">
            <a:solidFill>
              <a:srgbClr val="D7CCB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81144" y="1563624"/>
            <a:ext cx="309067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3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end of research week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81144" y="1892808"/>
            <a:ext cx="3090672" cy="1289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Validated P0/P1/Later technical scope, unresolved institutional questions, architecture decision records, setup checklist and development workflow.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8183880" y="1417320"/>
            <a:ext cx="3383280" cy="1874520"/>
          </a:xfrm>
          <a:prstGeom prst="roundRect">
            <a:avLst>
              <a:gd name="adj" fmla="val 3902"/>
            </a:avLst>
          </a:prstGeom>
          <a:solidFill>
            <a:srgbClr val="EFE8DA"/>
          </a:solidFill>
          <a:ln w="9525">
            <a:solidFill>
              <a:srgbClr val="D7CCB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0184" y="1563624"/>
            <a:ext cx="309067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3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do yet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30184" y="1892808"/>
            <a:ext cx="3090672" cy="1289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integrate live money, implement every category, build native apps, overfit AI, or hard-code campus rules before validation.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1097280" y="4192524"/>
            <a:ext cx="128016" cy="128016"/>
          </a:xfrm>
          <a:prstGeom prst="ellipse">
            <a:avLst/>
          </a:prstGeom>
          <a:solidFill>
            <a:srgbClr val="66725A"/>
          </a:solidFill>
          <a:ln w="6350">
            <a:solidFill>
              <a:srgbClr val="6672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16736" y="4160520"/>
            <a:ext cx="983894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private GitHub repo and branch protections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1097280" y="4503420"/>
            <a:ext cx="128016" cy="128016"/>
          </a:xfrm>
          <a:prstGeom prst="ellipse">
            <a:avLst/>
          </a:prstGeom>
          <a:solidFill>
            <a:srgbClr val="66725A"/>
          </a:solidFill>
          <a:ln w="6350">
            <a:solidFill>
              <a:srgbClr val="6672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16736" y="4471416"/>
            <a:ext cx="983894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 issue/PR templates and contribution rules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1097280" y="4814316"/>
            <a:ext cx="128016" cy="128016"/>
          </a:xfrm>
          <a:prstGeom prst="ellipse">
            <a:avLst/>
          </a:prstGeom>
          <a:solidFill>
            <a:srgbClr val="C7BAAA"/>
          </a:solidFill>
          <a:ln w="6350">
            <a:solidFill>
              <a:srgbClr val="C7BA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16736" y="4782312"/>
            <a:ext cx="983894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Link every build card to research evidence and acceptance criteria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1097280" y="5125212"/>
            <a:ext cx="128016" cy="128016"/>
          </a:xfrm>
          <a:prstGeom prst="ellipse">
            <a:avLst/>
          </a:prstGeom>
          <a:solidFill>
            <a:srgbClr val="C7BAAA"/>
          </a:solidFill>
          <a:ln w="6350">
            <a:solidFill>
              <a:srgbClr val="C7BA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16736" y="5093208"/>
            <a:ext cx="983894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with PWA-first architecture and replaceable integrations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1097280" y="5436108"/>
            <a:ext cx="128016" cy="128016"/>
          </a:xfrm>
          <a:prstGeom prst="ellipse">
            <a:avLst/>
          </a:prstGeom>
          <a:solidFill>
            <a:srgbClr val="C7BAAA"/>
          </a:solidFill>
          <a:ln w="6350">
            <a:solidFill>
              <a:srgbClr val="C7BA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16736" y="5404104"/>
            <a:ext cx="983894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MVP focused on proof of the marketplace loop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C756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2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EDUHACKERS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321040" y="2011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 build research - not final implementation spec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11480" y="502920"/>
            <a:ext cx="11384280" cy="0"/>
          </a:xfrm>
          <a:prstGeom prst="line">
            <a:avLst/>
          </a:prstGeom>
          <a:noFill/>
          <a:ln w="12700">
            <a:solidFill>
              <a:srgbClr val="D7CCB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7665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1D23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Source base and research references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0160">
            <a:solidFill>
              <a:srgbClr val="D7CCB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6539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6861"/>
                </a:solidFill>
              </a:rPr>
              <a:t>Scope: all Eduvos campuses | Build model must be validated by user research, policy, legal and payment-provider checks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594360" y="1234440"/>
            <a:ext cx="10972800" cy="666206"/>
          </a:xfrm>
          <a:prstGeom prst="rect">
            <a:avLst/>
          </a:prstGeom>
          <a:solidFill>
            <a:srgbClr val="243831"/>
          </a:solidFill>
          <a:ln w="7620">
            <a:solidFill>
              <a:srgbClr val="2438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" y="1307592"/>
            <a:ext cx="2340864" cy="57476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Area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3044952" y="1307592"/>
            <a:ext cx="8485632" cy="57476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references used in research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594360" y="1900646"/>
            <a:ext cx="10972800" cy="666206"/>
          </a:xfrm>
          <a:prstGeom prst="rect">
            <a:avLst/>
          </a:prstGeom>
          <a:solidFill>
            <a:srgbClr val="FFFFFF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" y="1955510"/>
            <a:ext cx="2340864" cy="59305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Frameworks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044952" y="1955510"/>
            <a:ext cx="8485632" cy="59305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Next.js Route Handlers and authentication guide; MDN PWA installability guidance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94360" y="2566851"/>
            <a:ext cx="10972800" cy="666206"/>
          </a:xfrm>
          <a:prstGeom prst="rect">
            <a:avLst/>
          </a:prstGeom>
          <a:solidFill>
            <a:srgbClr val="F5F1E9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" y="2621715"/>
            <a:ext cx="2340864" cy="59305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Backend/Data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044952" y="2621715"/>
            <a:ext cx="8485632" cy="59305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Supabase Auth, RLS, Storage, Realtime and Edge Functions documentation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3233057"/>
            <a:ext cx="10972800" cy="666206"/>
          </a:xfrm>
          <a:prstGeom prst="rect">
            <a:avLst/>
          </a:prstGeom>
          <a:solidFill>
            <a:srgbClr val="FFFFFF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" y="3287921"/>
            <a:ext cx="2340864" cy="59305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044952" y="3287921"/>
            <a:ext cx="8485632" cy="59305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protected branches and Actions workflow syntax; Vercel preview deployments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3899263"/>
            <a:ext cx="10972800" cy="666206"/>
          </a:xfrm>
          <a:prstGeom prst="rect">
            <a:avLst/>
          </a:prstGeom>
          <a:solidFill>
            <a:srgbClr val="F5F1E9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" y="3954127"/>
            <a:ext cx="2340864" cy="59305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044952" y="3954127"/>
            <a:ext cx="8485632" cy="59305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OpenAPI 3.1 specification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94360" y="4565469"/>
            <a:ext cx="10972800" cy="666206"/>
          </a:xfrm>
          <a:prstGeom prst="rect">
            <a:avLst/>
          </a:prstGeom>
          <a:solidFill>
            <a:srgbClr val="FFFFFF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" y="4620333"/>
            <a:ext cx="2340864" cy="59305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044952" y="4620333"/>
            <a:ext cx="8485632" cy="59305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OWASP API Security Top 10 2023 and OWASP ASVS 5.0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94360" y="5231674"/>
            <a:ext cx="10972800" cy="666206"/>
          </a:xfrm>
          <a:prstGeom prst="rect">
            <a:avLst/>
          </a:prstGeom>
          <a:solidFill>
            <a:srgbClr val="F5F1E9"/>
          </a:solidFill>
          <a:ln w="5080">
            <a:solidFill>
              <a:srgbClr val="D7CCB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" y="5286538"/>
            <a:ext cx="2340864" cy="59305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044952" y="5286538"/>
            <a:ext cx="8485632" cy="59305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Playwright and Storybook testing documentation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914400" y="5989320"/>
            <a:ext cx="10149840" cy="384048"/>
          </a:xfrm>
          <a:prstGeom prst="roundRect">
            <a:avLst>
              <a:gd name="adj" fmla="val 19048"/>
            </a:avLst>
          </a:prstGeom>
          <a:solidFill>
            <a:srgbClr val="EFE8DA"/>
          </a:solidFill>
          <a:ln w="9525">
            <a:solidFill>
              <a:srgbClr val="D7CCB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60704" y="6135624"/>
            <a:ext cx="985723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243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technical thesis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1060704" y="6464808"/>
            <a:ext cx="9857232" cy="-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B6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build should optimise for trust, proof of demand and controlled execution. A narrow, well-instrumented MVP is stronger than a broad, shallow feature showcase.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C756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EduHackers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EduHackers Developer Build Technical Research</dc:title>
  <dc:subject>Developer Build and Technical Research</dc:subject>
  <dc:creator>EduHackers</dc:creator>
  <cp:lastModifiedBy>EduHackers</cp:lastModifiedBy>
  <cp:revision>1</cp:revision>
  <dcterms:created xsi:type="dcterms:W3CDTF">2026-09-20T02:09:38Z</dcterms:created>
  <dcterms:modified xsi:type="dcterms:W3CDTF">2026-09-20T02:09:38Z</dcterms:modified>
</cp:coreProperties>
</file>